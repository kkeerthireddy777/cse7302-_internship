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0" r:id="rId2"/>
    <p:sldId id="260" r:id="rId3"/>
    <p:sldId id="261" r:id="rId4"/>
    <p:sldId id="270" r:id="rId5"/>
    <p:sldId id="271" r:id="rId6"/>
    <p:sldId id="262" r:id="rId7"/>
    <p:sldId id="263" r:id="rId8"/>
    <p:sldId id="264" r:id="rId9"/>
    <p:sldId id="265" r:id="rId10"/>
    <p:sldId id="272" r:id="rId11"/>
    <p:sldId id="273" r:id="rId12"/>
    <p:sldId id="275" r:id="rId13"/>
    <p:sldId id="274" r:id="rId14"/>
    <p:sldId id="276" r:id="rId15"/>
    <p:sldId id="277" r:id="rId16"/>
    <p:sldId id="278" r:id="rId17"/>
    <p:sldId id="279" r:id="rId18"/>
    <p:sldId id="266" r:id="rId19"/>
    <p:sldId id="267" r:id="rId20"/>
    <p:sldId id="268"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5" d="100"/>
          <a:sy n="85" d="100"/>
        </p:scale>
        <p:origin x="70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r>
            <a:rPr lang="en-US" sz="2000" dirty="0">
              <a:latin typeface="Times New Roman" panose="02020603050405020304" pitchFamily="18" charset="0"/>
              <a:cs typeface="Times New Roman" panose="02020603050405020304" pitchFamily="18" charset="0"/>
            </a:rPr>
            <a:t>Database design</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custT="1"/>
      <dgm:spPr/>
      <dgm:t>
        <a:bodyPr/>
        <a:lstStyle/>
        <a:p>
          <a:r>
            <a:rPr lang="en-US" sz="2000" dirty="0">
              <a:latin typeface="Times New Roman" panose="02020603050405020304" pitchFamily="18" charset="0"/>
              <a:cs typeface="Times New Roman" panose="02020603050405020304" pitchFamily="18" charset="0"/>
            </a:rPr>
            <a:t>API + ReactJS </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r"/>
          <a:r>
            <a:rPr lang="en-US" sz="2000" dirty="0">
              <a:latin typeface="Times New Roman" panose="02020603050405020304" pitchFamily="18" charset="0"/>
              <a:cs typeface="Times New Roman" panose="02020603050405020304" pitchFamily="18" charset="0"/>
            </a:rPr>
            <a:t>Frontend implementation</a:t>
          </a: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8"/>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8"/>
      </dsp:txXfrm>
    </dsp:sp>
    <dsp:sp modelId="{FC0F1314-3294-4A8C-8DCE-EB53E236164C}">
      <dsp:nvSpPr>
        <dsp:cNvPr id="0" name=""/>
        <dsp:cNvSpPr/>
      </dsp:nvSpPr>
      <dsp:spPr>
        <a:xfrm>
          <a:off x="5898557"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Frontend implementation</a:t>
          </a:r>
        </a:p>
      </dsp:txBody>
      <dsp:txXfrm>
        <a:off x="4782502" y="811638"/>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API + ReactJS </a:t>
          </a:r>
        </a:p>
      </dsp:txBody>
      <dsp:txXfrm>
        <a:off x="3504181" y="811638"/>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Database design</a:t>
          </a:r>
        </a:p>
      </dsp:txBody>
      <dsp:txXfrm>
        <a:off x="2225860" y="811638"/>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23/04/2026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23-04-2026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23-04-2026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23-04-2026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23-04-2026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23-04-2026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23-04-2026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23-04-2026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23-04-2026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23-04-2026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23-04-2026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23-04-2026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23-04-2026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kkeerthireddy777/CSE7302-_INTERNSHI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Sree</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hari T M</a:t>
            </a:r>
            <a:endParaRPr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latin typeface="Cambria" panose="02040503050406030204" pitchFamily="18" charset="0"/>
                <a:ea typeface="Cambria" panose="02040503050406030204" pitchFamily="18" charset="0"/>
                <a:cs typeface="Verdana"/>
                <a:sym typeface="Verdana"/>
              </a:rPr>
              <a:t>CSE7302</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Gopal Shyam</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a:latin typeface="Cambria" panose="02040503050406030204" pitchFamily="18" charset="0"/>
                <a:ea typeface="Cambria" panose="02040503050406030204" pitchFamily="18" charset="0"/>
                <a:cs typeface="Verdana"/>
                <a:sym typeface="Verdana"/>
              </a:rPr>
              <a:t>Mr. S</a:t>
            </a:r>
            <a:r>
              <a:rPr lang="en-US" sz="2000" b="1" dirty="0">
                <a:latin typeface="Cambria" panose="02040503050406030204" pitchFamily="18" charset="0"/>
                <a:ea typeface="Cambria" panose="02040503050406030204" pitchFamily="18" charset="0"/>
                <a:cs typeface="Verdana"/>
                <a:sym typeface="Verdana"/>
              </a:rPr>
              <a:t>ree</a:t>
            </a:r>
            <a:r>
              <a:rPr lang="en-US" sz="2000" b="1" i="0" u="none" strike="noStrike" cap="none" dirty="0">
                <a:latin typeface="Cambria" panose="02040503050406030204" pitchFamily="18" charset="0"/>
                <a:ea typeface="Cambria" panose="02040503050406030204" pitchFamily="18" charset="0"/>
                <a:cs typeface="Verdana"/>
                <a:sym typeface="Verdana"/>
              </a:rPr>
              <a:t>hari T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9018"/>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Review-3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RWF Manufacturing Management Reports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K KEERTHI</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20221ISE0046</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8ISE03</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4099568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4" name="Google Shape;97;p14">
            <a:extLst>
              <a:ext uri="{FF2B5EF4-FFF2-40B4-BE49-F238E27FC236}">
                <a16:creationId xmlns:a16="http://schemas.microsoft.com/office/drawing/2014/main" id="{A9855F18-641B-523D-2631-D2A48A4BA866}"/>
              </a:ext>
            </a:extLst>
          </p:cNvPr>
          <p:cNvSpPr txBox="1">
            <a:spLocks/>
          </p:cNvSpPr>
          <p:nvPr/>
        </p:nvSpPr>
        <p:spPr>
          <a:xfrm>
            <a:off x="704516" y="902370"/>
            <a:ext cx="10668000" cy="427120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US" sz="2000" b="1" dirty="0" err="1">
                <a:solidFill>
                  <a:schemeClr val="accent1">
                    <a:lumMod val="75000"/>
                  </a:schemeClr>
                </a:solidFill>
                <a:latin typeface="Times New Roman" panose="02020603050405020304" pitchFamily="18" charset="0"/>
                <a:cs typeface="Times New Roman" panose="02020603050405020304" pitchFamily="18" charset="0"/>
              </a:rPr>
              <a:t>Github</a:t>
            </a:r>
            <a:r>
              <a:rPr lang="en-US" sz="2000" b="1" dirty="0">
                <a:solidFill>
                  <a:schemeClr val="accent1">
                    <a:lumMod val="75000"/>
                  </a:schemeClr>
                </a:solidFill>
                <a:latin typeface="Times New Roman" panose="02020603050405020304" pitchFamily="18" charset="0"/>
                <a:cs typeface="Times New Roman" panose="02020603050405020304" pitchFamily="18" charset="0"/>
              </a:rPr>
              <a:t> Link</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Clr>
                <a:schemeClr val="dk1"/>
              </a:buClr>
              <a:buSzPts val="2400"/>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892631"/>
            <a:ext cx="10515600" cy="5221298"/>
          </a:xfrm>
        </p:spPr>
        <p:txBody>
          <a:bodyPr>
            <a:noAutofit/>
          </a:bodyPr>
          <a:lstStyle/>
          <a:p>
            <a:r>
              <a:rPr lang="en-US" b="1" dirty="0">
                <a:latin typeface="Times New Roman" panose="02020603050405020304" pitchFamily="18" charset="0"/>
                <a:cs typeface="Times New Roman" panose="02020603050405020304" pitchFamily="18" charset="0"/>
              </a:rPr>
              <a:t>Company / Organization Name: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Rail Wheel Factory (RWF)</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Organization Type: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Government of India Enterprise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(Under Ministry of Railways)</a:t>
            </a:r>
          </a:p>
          <a:p>
            <a:r>
              <a:rPr lang="en-US" b="1" dirty="0">
                <a:latin typeface="Times New Roman" panose="02020603050405020304" pitchFamily="18" charset="0"/>
                <a:cs typeface="Times New Roman" panose="02020603050405020304" pitchFamily="18" charset="0"/>
              </a:rPr>
              <a:t>Location: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Yelahanka, Bengaluru, Karnataka</a:t>
            </a:r>
          </a:p>
          <a:p>
            <a:r>
              <a:rPr lang="en-US" b="1" dirty="0">
                <a:latin typeface="Times New Roman" panose="02020603050405020304" pitchFamily="18" charset="0"/>
                <a:cs typeface="Times New Roman" panose="02020603050405020304" pitchFamily="18" charset="0"/>
              </a:rPr>
              <a:t>Overview: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one of the major factories that manufactures railway wheels and axles for Indian Railways. These wheels are used in trains, metros, and coaches across the country. RWF plays an important role in keeping the railway system running smoothly and safely.</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33D8-9E92-143E-DA46-DE735CDDB49B}"/>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13616BEB-44AC-D759-712C-FE2B9D26581D}"/>
              </a:ext>
            </a:extLst>
          </p:cNvPr>
          <p:cNvSpPr>
            <a:spLocks noGrp="1"/>
          </p:cNvSpPr>
          <p:nvPr>
            <p:ph idx="1"/>
          </p:nvPr>
        </p:nvSpPr>
        <p:spPr>
          <a:xfrm>
            <a:off x="838200" y="1565649"/>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Along with manufacturing, RWF also has a strong </a:t>
            </a:r>
            <a:r>
              <a:rPr lang="en-US" b="1" dirty="0">
                <a:latin typeface="Times New Roman" panose="02020603050405020304" pitchFamily="18" charset="0"/>
                <a:cs typeface="Times New Roman" panose="02020603050405020304" pitchFamily="18" charset="0"/>
              </a:rPr>
              <a:t>IT and Systems Department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department handles:</a:t>
            </a:r>
          </a:p>
          <a:p>
            <a:r>
              <a:rPr lang="en-US" dirty="0">
                <a:latin typeface="Times New Roman" panose="02020603050405020304" pitchFamily="18" charset="0"/>
                <a:cs typeface="Times New Roman" panose="02020603050405020304" pitchFamily="18" charset="0"/>
              </a:rPr>
              <a:t>Digital records</a:t>
            </a:r>
          </a:p>
          <a:p>
            <a:r>
              <a:rPr lang="en-US" dirty="0">
                <a:latin typeface="Times New Roman" panose="02020603050405020304" pitchFamily="18" charset="0"/>
                <a:cs typeface="Times New Roman" panose="02020603050405020304" pitchFamily="18" charset="0"/>
              </a:rPr>
              <a:t>Employee and production data</a:t>
            </a:r>
          </a:p>
          <a:p>
            <a:r>
              <a:rPr lang="en-US" dirty="0">
                <a:latin typeface="Times New Roman" panose="02020603050405020304" pitchFamily="18" charset="0"/>
                <a:cs typeface="Times New Roman" panose="02020603050405020304" pitchFamily="18" charset="0"/>
              </a:rPr>
              <a:t>Internal software applications</a:t>
            </a:r>
          </a:p>
          <a:p>
            <a:r>
              <a:rPr lang="en-US" dirty="0">
                <a:latin typeface="Times New Roman" panose="02020603050405020304" pitchFamily="18" charset="0"/>
                <a:cs typeface="Times New Roman" panose="02020603050405020304" pitchFamily="18" charset="0"/>
              </a:rPr>
              <a:t>Database management</a:t>
            </a:r>
          </a:p>
        </p:txBody>
      </p:sp>
      <p:sp>
        <p:nvSpPr>
          <p:cNvPr id="4" name="Date Placeholder 3">
            <a:extLst>
              <a:ext uri="{FF2B5EF4-FFF2-40B4-BE49-F238E27FC236}">
                <a16:creationId xmlns:a16="http://schemas.microsoft.com/office/drawing/2014/main" id="{4D5BCCAA-8C5D-46CB-E56A-2E00A3ABA082}"/>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5C72E486-0DB3-7738-8A8F-67F1F5825064}"/>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75617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3863-C589-C3E6-07B1-0B0522D7A600}"/>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954E0B21-D003-0AC1-C049-9BC5C9BE6FB4}"/>
              </a:ext>
            </a:extLst>
          </p:cNvPr>
          <p:cNvSpPr>
            <a:spLocks noGrp="1"/>
          </p:cNvSpPr>
          <p:nvPr>
            <p:ph idx="1"/>
          </p:nvPr>
        </p:nvSpPr>
        <p:spPr>
          <a:xfrm>
            <a:off x="838200" y="1511861"/>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RWF deals with a large amount of data like:</a:t>
            </a:r>
          </a:p>
          <a:p>
            <a:r>
              <a:rPr lang="en-US" dirty="0">
                <a:latin typeface="Times New Roman" panose="02020603050405020304" pitchFamily="18" charset="0"/>
                <a:cs typeface="Times New Roman" panose="02020603050405020304" pitchFamily="18" charset="0"/>
              </a:rPr>
              <a:t>Employee details</a:t>
            </a:r>
          </a:p>
          <a:p>
            <a:r>
              <a:rPr lang="en-US" dirty="0">
                <a:latin typeface="Times New Roman" panose="02020603050405020304" pitchFamily="18" charset="0"/>
                <a:cs typeface="Times New Roman" panose="02020603050405020304" pitchFamily="18" charset="0"/>
              </a:rPr>
              <a:t>Production records</a:t>
            </a:r>
          </a:p>
          <a:p>
            <a:r>
              <a:rPr lang="en-US" dirty="0">
                <a:latin typeface="Times New Roman" panose="02020603050405020304" pitchFamily="18" charset="0"/>
                <a:cs typeface="Times New Roman" panose="02020603050405020304" pitchFamily="18" charset="0"/>
              </a:rPr>
              <a:t>Machine and process information</a:t>
            </a:r>
          </a:p>
          <a:p>
            <a:pPr marL="0" indent="0">
              <a:buNone/>
            </a:pPr>
            <a:r>
              <a:rPr lang="en-US" dirty="0">
                <a:latin typeface="Times New Roman" panose="02020603050405020304" pitchFamily="18" charset="0"/>
                <a:cs typeface="Times New Roman" panose="02020603050405020304" pitchFamily="18" charset="0"/>
              </a:rPr>
              <a:t>To manage all this data properly, </a:t>
            </a:r>
            <a:r>
              <a:rPr lang="en-US" b="1" dirty="0">
                <a:latin typeface="Times New Roman" panose="02020603050405020304" pitchFamily="18" charset="0"/>
                <a:cs typeface="Times New Roman" panose="02020603050405020304" pitchFamily="18" charset="0"/>
              </a:rPr>
              <a:t>software and databases are used</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is where applications built using </a:t>
            </a:r>
            <a:r>
              <a:rPr lang="en-US" b="1" dirty="0">
                <a:latin typeface="Times New Roman" panose="02020603050405020304" pitchFamily="18" charset="0"/>
                <a:cs typeface="Times New Roman" panose="02020603050405020304" pitchFamily="18" charset="0"/>
              </a:rPr>
              <a:t>Visual Basic and SQL</a:t>
            </a:r>
            <a:r>
              <a:rPr lang="en-US" dirty="0">
                <a:latin typeface="Times New Roman" panose="02020603050405020304" pitchFamily="18" charset="0"/>
                <a:cs typeface="Times New Roman" panose="02020603050405020304" pitchFamily="18" charset="0"/>
              </a:rPr>
              <a:t> are helpful, as they allow users to easily store, update, and retrieve information through a simple interface.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A84A37-F45F-E67C-90DA-849F378EC27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E7495C2F-4372-D7DE-CEEA-BE985BC25F94}"/>
              </a:ext>
            </a:extLst>
          </p:cNvPr>
          <p:cNvSpPr>
            <a:spLocks noGrp="1"/>
          </p:cNvSpPr>
          <p:nvPr>
            <p:ph type="sldNum" sz="quarter" idx="12"/>
          </p:nvPr>
        </p:nvSpPr>
        <p:spPr/>
        <p:txBody>
          <a:bodyPr/>
          <a:lstStyle/>
          <a:p>
            <a:fld id="{F32F6845-8F47-4AB8-B9CE-96D88E741707}" type="slidenum">
              <a:rPr lang="en-IN" smtClean="0"/>
              <a:pPr/>
              <a:t>5</a:t>
            </a:fld>
            <a:endParaRPr lang="en-IN" dirty="0"/>
          </a:p>
        </p:txBody>
      </p:sp>
    </p:spTree>
    <p:extLst>
      <p:ext uri="{BB962C8B-B14F-4D97-AF65-F5344CB8AC3E}">
        <p14:creationId xmlns:p14="http://schemas.microsoft.com/office/powerpoint/2010/main" val="16345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5308508"/>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Internship Domain: FULL-STACK DEVELOPMENT</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SQL Server</a:t>
            </a:r>
          </a:p>
          <a:p>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Python (Flask – REST API)</a:t>
            </a:r>
          </a:p>
          <a:p>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ReactJS</a:t>
            </a:r>
          </a:p>
          <a:p>
            <a:r>
              <a:rPr lang="en-IN" sz="2400" b="1" dirty="0">
                <a:latin typeface="Times New Roman" panose="02020603050405020304" pitchFamily="18" charset="0"/>
                <a:cs typeface="Times New Roman" panose="02020603050405020304" pitchFamily="18" charset="0"/>
              </a:rPr>
              <a:t>API Testing:</a:t>
            </a:r>
            <a:r>
              <a:rPr lang="en-IN" sz="2400" dirty="0">
                <a:latin typeface="Times New Roman" panose="02020603050405020304" pitchFamily="18" charset="0"/>
                <a:cs typeface="Times New Roman" panose="02020603050405020304" pitchFamily="18" charset="0"/>
              </a:rPr>
              <a:t> Postman</a:t>
            </a:r>
          </a:p>
          <a:p>
            <a:r>
              <a:rPr lang="en-IN" sz="2400" b="1" dirty="0">
                <a:latin typeface="Times New Roman" panose="02020603050405020304" pitchFamily="18" charset="0"/>
                <a:cs typeface="Times New Roman" panose="02020603050405020304" pitchFamily="18" charset="0"/>
              </a:rPr>
              <a:t>Version Control:</a:t>
            </a:r>
            <a:r>
              <a:rPr lang="en-IN" sz="2400" dirty="0">
                <a:latin typeface="Times New Roman" panose="02020603050405020304" pitchFamily="18" charset="0"/>
                <a:cs typeface="Times New Roman" panose="02020603050405020304" pitchFamily="18" charset="0"/>
              </a:rPr>
              <a:t> GitHub</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6"/>
            <a:ext cx="10515600" cy="4830951"/>
          </a:xfrm>
        </p:spPr>
        <p:txBody>
          <a:bodyPr>
            <a:noAutofit/>
          </a:bodyPr>
          <a:lstStyle/>
          <a:p>
            <a:r>
              <a:rPr lang="en-US" dirty="0">
                <a:latin typeface="Times New Roman" panose="02020603050405020304" pitchFamily="18" charset="0"/>
                <a:cs typeface="Times New Roman" panose="02020603050405020304" pitchFamily="18" charset="0"/>
              </a:rPr>
              <a:t>Reporting Manager: Mr. Buddha Appa Rao, Senior Section Engineer (SSE) at Rail Wheel Factory.</a:t>
            </a:r>
          </a:p>
          <a:p>
            <a:r>
              <a:rPr lang="en-US" dirty="0">
                <a:latin typeface="Times New Roman" panose="02020603050405020304" pitchFamily="18" charset="0"/>
                <a:cs typeface="Times New Roman" panose="02020603050405020304" pitchFamily="18" charset="0"/>
              </a:rPr>
              <a:t>Internship is conducted in batch.</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9" name="Rectangle 5">
            <a:extLst>
              <a:ext uri="{FF2B5EF4-FFF2-40B4-BE49-F238E27FC236}">
                <a16:creationId xmlns:a16="http://schemas.microsoft.com/office/drawing/2014/main" id="{22E0E85B-EB34-8E02-81ED-96D116E93F41}"/>
              </a:ext>
            </a:extLst>
          </p:cNvPr>
          <p:cNvSpPr>
            <a:spLocks noGrp="1" noChangeArrowheads="1"/>
          </p:cNvSpPr>
          <p:nvPr>
            <p:ph idx="1"/>
          </p:nvPr>
        </p:nvSpPr>
        <p:spPr bwMode="auto">
          <a:xfrm>
            <a:off x="838200" y="1184366"/>
            <a:ext cx="814443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 how database tables are 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Dealing with missing or repeated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Fixing errors while connecting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frontend with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sure data stays correct everywhere</a:t>
            </a:r>
          </a:p>
        </p:txBody>
      </p:sp>
    </p:spTree>
    <p:extLst>
      <p:ext uri="{BB962C8B-B14F-4D97-AF65-F5344CB8AC3E}">
        <p14:creationId xmlns:p14="http://schemas.microsoft.com/office/powerpoint/2010/main" val="120615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5" name="Rectangle 2">
            <a:extLst>
              <a:ext uri="{FF2B5EF4-FFF2-40B4-BE49-F238E27FC236}">
                <a16:creationId xmlns:a16="http://schemas.microsoft.com/office/drawing/2014/main" id="{61AB3FE3-71AE-81DB-7895-18147F84C314}"/>
              </a:ext>
            </a:extLst>
          </p:cNvPr>
          <p:cNvSpPr>
            <a:spLocks noGrp="1" noChangeArrowheads="1"/>
          </p:cNvSpPr>
          <p:nvPr>
            <p:ph idx="1"/>
          </p:nvPr>
        </p:nvSpPr>
        <p:spPr bwMode="auto">
          <a:xfrm>
            <a:off x="838200" y="1138643"/>
            <a:ext cx="10287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web-based reporting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REST APIs using Flask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connect the backend with the SQL Server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retrieve and display data using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report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data accuracy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full-stack application workflow</a:t>
            </a:r>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831B-ED0C-D231-029C-73E0AA03C5B9}"/>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US" sz="3200" dirty="0"/>
          </a:p>
        </p:txBody>
      </p:sp>
      <p:sp>
        <p:nvSpPr>
          <p:cNvPr id="4" name="Date Placeholder 3">
            <a:extLst>
              <a:ext uri="{FF2B5EF4-FFF2-40B4-BE49-F238E27FC236}">
                <a16:creationId xmlns:a16="http://schemas.microsoft.com/office/drawing/2014/main" id="{C0EE3E80-A7F1-1D60-1F4D-E4DFCD1878F7}"/>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F8AC3D34-9B39-5D48-9624-8B74DD9F0A2F}"/>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
        <p:nvSpPr>
          <p:cNvPr id="6" name="Rectangle 1">
            <a:extLst>
              <a:ext uri="{FF2B5EF4-FFF2-40B4-BE49-F238E27FC236}">
                <a16:creationId xmlns:a16="http://schemas.microsoft.com/office/drawing/2014/main" id="{6D132877-3239-9434-5689-2C86554A5408}"/>
              </a:ext>
            </a:extLst>
          </p:cNvPr>
          <p:cNvSpPr>
            <a:spLocks noGrp="1" noChangeArrowheads="1"/>
          </p:cNvSpPr>
          <p:nvPr>
            <p:ph idx="1"/>
          </p:nvPr>
        </p:nvSpPr>
        <p:spPr bwMode="auto">
          <a:xfrm>
            <a:off x="838200" y="1345863"/>
            <a:ext cx="798487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factories still use basic or old software systems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 generation usually takes more time.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is often stored in different places.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duplication and errors are common.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systems make access easier.</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and React are popular for such applications.</a:t>
            </a:r>
          </a:p>
        </p:txBody>
      </p:sp>
    </p:spTree>
    <p:extLst>
      <p:ext uri="{BB962C8B-B14F-4D97-AF65-F5344CB8AC3E}">
        <p14:creationId xmlns:p14="http://schemas.microsoft.com/office/powerpoint/2010/main" val="188957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F5BC8-5393-BF3A-73E1-35DC6AB9A9C0}"/>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US" sz="3200" dirty="0"/>
          </a:p>
        </p:txBody>
      </p:sp>
      <p:sp>
        <p:nvSpPr>
          <p:cNvPr id="4" name="Date Placeholder 3">
            <a:extLst>
              <a:ext uri="{FF2B5EF4-FFF2-40B4-BE49-F238E27FC236}">
                <a16:creationId xmlns:a16="http://schemas.microsoft.com/office/drawing/2014/main" id="{C44E417C-53EC-306B-5E53-FB4C7DADA023}"/>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DBB81560-39B1-4F4F-9665-443C55A7920E}"/>
              </a:ext>
            </a:extLst>
          </p:cNvPr>
          <p:cNvSpPr>
            <a:spLocks noGrp="1"/>
          </p:cNvSpPr>
          <p:nvPr>
            <p:ph type="sldNum" sz="quarter" idx="12"/>
          </p:nvPr>
        </p:nvSpPr>
        <p:spPr/>
        <p:txBody>
          <a:bodyPr/>
          <a:lstStyle/>
          <a:p>
            <a:fld id="{F32F6845-8F47-4AB8-B9CE-96D88E741707}" type="slidenum">
              <a:rPr lang="en-IN" smtClean="0"/>
              <a:pPr/>
              <a:t>11</a:t>
            </a:fld>
            <a:endParaRPr lang="en-IN" dirty="0"/>
          </a:p>
        </p:txBody>
      </p:sp>
      <p:sp>
        <p:nvSpPr>
          <p:cNvPr id="6" name="Rectangle 1">
            <a:extLst>
              <a:ext uri="{FF2B5EF4-FFF2-40B4-BE49-F238E27FC236}">
                <a16:creationId xmlns:a16="http://schemas.microsoft.com/office/drawing/2014/main" id="{F69B9FD6-3D2A-0CE2-27F7-DEAC2AB815B7}"/>
              </a:ext>
            </a:extLst>
          </p:cNvPr>
          <p:cNvSpPr>
            <a:spLocks noGrp="1" noChangeArrowheads="1"/>
          </p:cNvSpPr>
          <p:nvPr>
            <p:ph idx="1"/>
          </p:nvPr>
        </p:nvSpPr>
        <p:spPr bwMode="auto">
          <a:xfrm>
            <a:off x="838200" y="1281611"/>
            <a:ext cx="704564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manufacturing management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using Flask REST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Server for data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for the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for data retrieval and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database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and structured report generation.</a:t>
            </a:r>
          </a:p>
        </p:txBody>
      </p:sp>
    </p:spTree>
    <p:extLst>
      <p:ext uri="{BB962C8B-B14F-4D97-AF65-F5344CB8AC3E}">
        <p14:creationId xmlns:p14="http://schemas.microsoft.com/office/powerpoint/2010/main" val="120769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BC3A-1FCB-4CD1-8B8D-191EFFD17DE5}"/>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US" sz="3200" dirty="0"/>
          </a:p>
        </p:txBody>
      </p:sp>
      <p:sp>
        <p:nvSpPr>
          <p:cNvPr id="3" name="Content Placeholder 2">
            <a:extLst>
              <a:ext uri="{FF2B5EF4-FFF2-40B4-BE49-F238E27FC236}">
                <a16:creationId xmlns:a16="http://schemas.microsoft.com/office/drawing/2014/main" id="{22DE9990-D0CA-4016-F132-A89D1F2BE1FA}"/>
              </a:ext>
            </a:extLst>
          </p:cNvPr>
          <p:cNvSpPr>
            <a:spLocks noGrp="1"/>
          </p:cNvSpPr>
          <p:nvPr>
            <p:ph idx="1"/>
          </p:nvPr>
        </p:nvSpPr>
        <p:spPr>
          <a:xfrm>
            <a:off x="838200" y="1253331"/>
            <a:ext cx="10515600" cy="4351338"/>
          </a:xfrm>
        </p:spPr>
        <p:txBody>
          <a:bodyPr/>
          <a:lstStyle/>
          <a:p>
            <a:pPr marL="0" lv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To design and develop a Report Creating API for the RWF Manufacturing Management System to handle data efficiently and generate reports faster.</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 Existing systems are slow</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Reports take more time to generate</a:t>
            </a:r>
            <a:endParaRPr 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Data is not fully centralized</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Manual work causes errors</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Need for web-based API system</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3447CF-3532-8966-F806-47B706CDA36D}"/>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C3FD20E1-E184-BF24-4039-6C6B95FA9A2C}"/>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
        <p:nvSpPr>
          <p:cNvPr id="8" name="Rectangle 3">
            <a:extLst>
              <a:ext uri="{FF2B5EF4-FFF2-40B4-BE49-F238E27FC236}">
                <a16:creationId xmlns:a16="http://schemas.microsoft.com/office/drawing/2014/main" id="{72A06B9B-1095-9D21-FBD8-CC7D73FF5EE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879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97C4-CFC8-DA64-AA88-005FC2D41225}"/>
              </a:ext>
            </a:extLst>
          </p:cNvPr>
          <p:cNvSpPr>
            <a:spLocks noGrp="1"/>
          </p:cNvSpPr>
          <p:nvPr>
            <p:ph type="title"/>
          </p:nvPr>
        </p:nvSpPr>
        <p:spPr>
          <a:xfrm>
            <a:off x="838200" y="-1783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US" sz="3200" dirty="0"/>
          </a:p>
        </p:txBody>
      </p:sp>
      <p:sp>
        <p:nvSpPr>
          <p:cNvPr id="3" name="Content Placeholder 2">
            <a:extLst>
              <a:ext uri="{FF2B5EF4-FFF2-40B4-BE49-F238E27FC236}">
                <a16:creationId xmlns:a16="http://schemas.microsoft.com/office/drawing/2014/main" id="{F89C2BCC-D1FC-4812-4E72-E88F3C85B8C6}"/>
              </a:ext>
            </a:extLst>
          </p:cNvPr>
          <p:cNvSpPr>
            <a:spLocks noGrp="1"/>
          </p:cNvSpPr>
          <p:nvPr>
            <p:ph idx="1"/>
          </p:nvPr>
        </p:nvSpPr>
        <p:spPr>
          <a:xfrm>
            <a:off x="838200" y="762000"/>
            <a:ext cx="10515600" cy="5325035"/>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Hardware Requirements</a:t>
            </a:r>
          </a:p>
          <a:p>
            <a:r>
              <a:rPr lang="en-US" dirty="0">
                <a:latin typeface="Times New Roman" panose="02020603050405020304" pitchFamily="18" charset="0"/>
                <a:cs typeface="Times New Roman" panose="02020603050405020304" pitchFamily="18" charset="0"/>
              </a:rPr>
              <a:t>Computer / Laptop</a:t>
            </a:r>
          </a:p>
          <a:p>
            <a:r>
              <a:rPr lang="en-US" dirty="0">
                <a:latin typeface="Times New Roman" panose="02020603050405020304" pitchFamily="18" charset="0"/>
                <a:cs typeface="Times New Roman" panose="02020603050405020304" pitchFamily="18" charset="0"/>
              </a:rPr>
              <a:t>Processor: Intel i3 / i5 or above</a:t>
            </a:r>
          </a:p>
          <a:p>
            <a:r>
              <a:rPr lang="en-US" dirty="0">
                <a:latin typeface="Times New Roman" panose="02020603050405020304" pitchFamily="18" charset="0"/>
                <a:cs typeface="Times New Roman" panose="02020603050405020304" pitchFamily="18" charset="0"/>
              </a:rPr>
              <a:t>RAM: Minimum 8 GB</a:t>
            </a:r>
          </a:p>
          <a:p>
            <a:r>
              <a:rPr lang="en-US" dirty="0">
                <a:latin typeface="Times New Roman" panose="02020603050405020304" pitchFamily="18" charset="0"/>
                <a:cs typeface="Times New Roman" panose="02020603050405020304" pitchFamily="18" charset="0"/>
              </a:rPr>
              <a:t>Storage: At least 50 GB free space</a:t>
            </a:r>
          </a:p>
          <a:p>
            <a:r>
              <a:rPr lang="en-US" dirty="0">
                <a:latin typeface="Times New Roman" panose="02020603050405020304" pitchFamily="18" charset="0"/>
                <a:cs typeface="Times New Roman" panose="02020603050405020304" pitchFamily="18" charset="0"/>
              </a:rPr>
              <a:t>Internet connection</a:t>
            </a:r>
          </a:p>
          <a:p>
            <a:r>
              <a:rPr lang="en-US" b="1" dirty="0">
                <a:latin typeface="Times New Roman" panose="02020603050405020304" pitchFamily="18" charset="0"/>
                <a:cs typeface="Times New Roman" panose="02020603050405020304" pitchFamily="18" charset="0"/>
              </a:rPr>
              <a:t>Software Requirements</a:t>
            </a:r>
          </a:p>
          <a:p>
            <a:r>
              <a:rPr lang="en-US" dirty="0">
                <a:latin typeface="Times New Roman" panose="02020603050405020304" pitchFamily="18" charset="0"/>
                <a:cs typeface="Times New Roman" panose="02020603050405020304" pitchFamily="18" charset="0"/>
              </a:rPr>
              <a:t>Operating System: Windows</a:t>
            </a:r>
          </a:p>
          <a:p>
            <a:r>
              <a:rPr lang="en-US" dirty="0">
                <a:latin typeface="Times New Roman" panose="02020603050405020304" pitchFamily="18" charset="0"/>
                <a:cs typeface="Times New Roman" panose="02020603050405020304" pitchFamily="18" charset="0"/>
              </a:rPr>
              <a:t>Backend: Python, Flask</a:t>
            </a:r>
          </a:p>
          <a:p>
            <a:r>
              <a:rPr lang="en-US" dirty="0">
                <a:latin typeface="Times New Roman" panose="02020603050405020304" pitchFamily="18" charset="0"/>
                <a:cs typeface="Times New Roman" panose="02020603050405020304" pitchFamily="18" charset="0"/>
              </a:rPr>
              <a:t>Database: SQL Server</a:t>
            </a:r>
          </a:p>
          <a:p>
            <a:r>
              <a:rPr lang="en-US" dirty="0">
                <a:latin typeface="Times New Roman" panose="02020603050405020304" pitchFamily="18" charset="0"/>
                <a:cs typeface="Times New Roman" panose="02020603050405020304" pitchFamily="18" charset="0"/>
              </a:rPr>
              <a:t>Frontend: ReactJS</a:t>
            </a:r>
          </a:p>
          <a:p>
            <a:r>
              <a:rPr lang="en-US" dirty="0">
                <a:latin typeface="Times New Roman" panose="02020603050405020304" pitchFamily="18" charset="0"/>
                <a:cs typeface="Times New Roman" panose="02020603050405020304" pitchFamily="18" charset="0"/>
              </a:rPr>
              <a:t>Tools: VS Code, Postman</a:t>
            </a:r>
          </a:p>
          <a:p>
            <a:r>
              <a:rPr lang="en-US" dirty="0">
                <a:latin typeface="Times New Roman" panose="02020603050405020304" pitchFamily="18" charset="0"/>
                <a:cs typeface="Times New Roman" panose="02020603050405020304" pitchFamily="18" charset="0"/>
              </a:rPr>
              <a:t>Browser: Chrome / Edge</a:t>
            </a:r>
          </a:p>
        </p:txBody>
      </p:sp>
      <p:sp>
        <p:nvSpPr>
          <p:cNvPr id="4" name="Date Placeholder 3">
            <a:extLst>
              <a:ext uri="{FF2B5EF4-FFF2-40B4-BE49-F238E27FC236}">
                <a16:creationId xmlns:a16="http://schemas.microsoft.com/office/drawing/2014/main" id="{85612C92-94C9-A22C-3780-125E0472163F}"/>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7355CE46-D8BB-70DD-026F-2C348C3DDEA1}"/>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998632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3816-982D-0044-14D7-6FB61DBAE0F2}"/>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US" sz="3200" dirty="0"/>
          </a:p>
        </p:txBody>
      </p:sp>
      <p:sp>
        <p:nvSpPr>
          <p:cNvPr id="3" name="Content Placeholder 2">
            <a:extLst>
              <a:ext uri="{FF2B5EF4-FFF2-40B4-BE49-F238E27FC236}">
                <a16:creationId xmlns:a16="http://schemas.microsoft.com/office/drawing/2014/main" id="{22EF0B07-DA78-8B85-D1E5-0F36EA220AFE}"/>
              </a:ext>
            </a:extLst>
          </p:cNvPr>
          <p:cNvSpPr>
            <a:spLocks noGrp="1"/>
          </p:cNvSpPr>
          <p:nvPr>
            <p:ph idx="1"/>
          </p:nvPr>
        </p:nvSpPr>
        <p:spPr>
          <a:xfrm>
            <a:off x="838200" y="1458073"/>
            <a:ext cx="10515600" cy="4351338"/>
          </a:xfrm>
        </p:spPr>
        <p:txBody>
          <a:bodyPr/>
          <a:lstStyle/>
          <a:p>
            <a:r>
              <a:rPr lang="en-US" dirty="0">
                <a:latin typeface="Times New Roman" panose="02020603050405020304" pitchFamily="18" charset="0"/>
                <a:cs typeface="Times New Roman" panose="02020603050405020304" pitchFamily="18" charset="0"/>
              </a:rPr>
              <a:t>Faster report generation</a:t>
            </a:r>
          </a:p>
          <a:p>
            <a:r>
              <a:rPr lang="en-US" dirty="0">
                <a:latin typeface="Times New Roman" panose="02020603050405020304" pitchFamily="18" charset="0"/>
                <a:cs typeface="Times New Roman" panose="02020603050405020304" pitchFamily="18" charset="0"/>
              </a:rPr>
              <a:t>Reduces manual work</a:t>
            </a:r>
          </a:p>
          <a:p>
            <a:r>
              <a:rPr lang="en-US" dirty="0">
                <a:latin typeface="Times New Roman" panose="02020603050405020304" pitchFamily="18" charset="0"/>
                <a:cs typeface="Times New Roman" panose="02020603050405020304" pitchFamily="18" charset="0"/>
              </a:rPr>
              <a:t>Better data accuracy</a:t>
            </a:r>
          </a:p>
          <a:p>
            <a:r>
              <a:rPr lang="en-US" dirty="0">
                <a:latin typeface="Times New Roman" panose="02020603050405020304" pitchFamily="18" charset="0"/>
                <a:cs typeface="Times New Roman" panose="02020603050405020304" pitchFamily="18" charset="0"/>
              </a:rPr>
              <a:t>Centralized data system</a:t>
            </a:r>
          </a:p>
          <a:p>
            <a:r>
              <a:rPr lang="en-US" dirty="0">
                <a:latin typeface="Times New Roman" panose="02020603050405020304" pitchFamily="18" charset="0"/>
                <a:cs typeface="Times New Roman" panose="02020603050405020304" pitchFamily="18" charset="0"/>
              </a:rPr>
              <a:t>Easy to maintain and update</a:t>
            </a:r>
          </a:p>
          <a:p>
            <a:r>
              <a:rPr lang="en-US" dirty="0">
                <a:latin typeface="Times New Roman" panose="02020603050405020304" pitchFamily="18" charset="0"/>
                <a:cs typeface="Times New Roman" panose="02020603050405020304" pitchFamily="18" charset="0"/>
              </a:rPr>
              <a:t>Scalable for future features</a:t>
            </a:r>
          </a:p>
          <a:p>
            <a:r>
              <a:rPr lang="en-US" dirty="0">
                <a:latin typeface="Times New Roman" panose="02020603050405020304" pitchFamily="18" charset="0"/>
                <a:cs typeface="Times New Roman" panose="02020603050405020304" pitchFamily="18" charset="0"/>
              </a:rPr>
              <a:t>Overall work becomes faster and smoother.</a:t>
            </a:r>
          </a:p>
        </p:txBody>
      </p:sp>
      <p:sp>
        <p:nvSpPr>
          <p:cNvPr id="4" name="Date Placeholder 3">
            <a:extLst>
              <a:ext uri="{FF2B5EF4-FFF2-40B4-BE49-F238E27FC236}">
                <a16:creationId xmlns:a16="http://schemas.microsoft.com/office/drawing/2014/main" id="{054E21A4-DECC-0687-8A1B-12442A1513CB}"/>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F919FA89-A0E7-1BF1-DF2F-8D60E50A437A}"/>
              </a:ext>
            </a:extLst>
          </p:cNvPr>
          <p:cNvSpPr>
            <a:spLocks noGrp="1"/>
          </p:cNvSpPr>
          <p:nvPr>
            <p:ph type="sldNum" sz="quarter" idx="12"/>
          </p:nvPr>
        </p:nvSpPr>
        <p:spPr/>
        <p:txBody>
          <a:bodyPr/>
          <a:lstStyle/>
          <a:p>
            <a:fld id="{F32F6845-8F47-4AB8-B9CE-96D88E741707}" type="slidenum">
              <a:rPr lang="en-IN" smtClean="0"/>
              <a:pPr/>
              <a:t>14</a:t>
            </a:fld>
            <a:endParaRPr lang="en-IN" dirty="0"/>
          </a:p>
        </p:txBody>
      </p:sp>
    </p:spTree>
    <p:extLst>
      <p:ext uri="{BB962C8B-B14F-4D97-AF65-F5344CB8AC3E}">
        <p14:creationId xmlns:p14="http://schemas.microsoft.com/office/powerpoint/2010/main" val="220111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24C8-9416-E296-5D8A-DDC83E8965FE}"/>
              </a:ext>
            </a:extLst>
          </p:cNvPr>
          <p:cNvSpPr>
            <a:spLocks noGrp="1"/>
          </p:cNvSpPr>
          <p:nvPr>
            <p:ph type="title"/>
          </p:nvPr>
        </p:nvSpPr>
        <p:spPr>
          <a:xfrm>
            <a:off x="838200" y="185826"/>
            <a:ext cx="10515600" cy="683746"/>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	</a:t>
            </a:r>
            <a:endParaRPr lang="en-US" sz="3200" dirty="0"/>
          </a:p>
        </p:txBody>
      </p:sp>
      <p:sp>
        <p:nvSpPr>
          <p:cNvPr id="3" name="Content Placeholder 2">
            <a:extLst>
              <a:ext uri="{FF2B5EF4-FFF2-40B4-BE49-F238E27FC236}">
                <a16:creationId xmlns:a16="http://schemas.microsoft.com/office/drawing/2014/main" id="{A37F805E-4D04-B1EB-28F5-0D1B8324B8F1}"/>
              </a:ext>
            </a:extLst>
          </p:cNvPr>
          <p:cNvSpPr>
            <a:spLocks noGrp="1"/>
          </p:cNvSpPr>
          <p:nvPr>
            <p:ph idx="1"/>
          </p:nvPr>
        </p:nvSpPr>
        <p:spPr>
          <a:xfrm>
            <a:off x="838200" y="944660"/>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System Design – Report Management System</a:t>
            </a:r>
          </a:p>
          <a:p>
            <a:r>
              <a:rPr lang="en-US" dirty="0">
                <a:latin typeface="Times New Roman" panose="02020603050405020304" pitchFamily="18" charset="0"/>
                <a:cs typeface="Times New Roman" panose="02020603050405020304" pitchFamily="18" charset="0"/>
              </a:rPr>
              <a:t>The system follows a three-layer architecture consisting of React frontend, Flask backend, and SQL Server database.</a:t>
            </a:r>
          </a:p>
          <a:p>
            <a:r>
              <a:rPr lang="en-US" dirty="0">
                <a:latin typeface="Times New Roman" panose="02020603050405020304" pitchFamily="18" charset="0"/>
                <a:cs typeface="Times New Roman" panose="02020603050405020304" pitchFamily="18" charset="0"/>
              </a:rPr>
              <a:t>REST APIs were enhanced from synchronous to asynchronous using async/await to support non-blocking execution and better performance.</a:t>
            </a:r>
          </a:p>
          <a:p>
            <a:r>
              <a:rPr lang="en-US" dirty="0">
                <a:latin typeface="Times New Roman" panose="02020603050405020304" pitchFamily="18" charset="0"/>
                <a:cs typeface="Times New Roman" panose="02020603050405020304" pitchFamily="18" charset="0"/>
              </a:rPr>
              <a:t>PDF reports are converted into HTML format to enable structured data extraction and dynamic web rendering.</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A6E2977-11F1-940E-5F19-BC096A5ED24F}"/>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47AE96A5-B021-C964-68AC-A8CFEC5CA65C}"/>
              </a:ext>
            </a:extLst>
          </p:cNvPr>
          <p:cNvSpPr>
            <a:spLocks noGrp="1"/>
          </p:cNvSpPr>
          <p:nvPr>
            <p:ph type="sldNum" sz="quarter" idx="12"/>
          </p:nvPr>
        </p:nvSpPr>
        <p:spPr/>
        <p:txBody>
          <a:bodyPr/>
          <a:lstStyle/>
          <a:p>
            <a:fld id="{F32F6845-8F47-4AB8-B9CE-96D88E741707}" type="slidenum">
              <a:rPr lang="en-IN" smtClean="0"/>
              <a:pPr/>
              <a:t>15</a:t>
            </a:fld>
            <a:endParaRPr lang="en-IN" dirty="0"/>
          </a:p>
        </p:txBody>
      </p:sp>
    </p:spTree>
    <p:extLst>
      <p:ext uri="{BB962C8B-B14F-4D97-AF65-F5344CB8AC3E}">
        <p14:creationId xmlns:p14="http://schemas.microsoft.com/office/powerpoint/2010/main" val="2018328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25920-61DD-04CD-681D-2A05BDF93509}"/>
              </a:ext>
            </a:extLst>
          </p:cNvPr>
          <p:cNvSpPr>
            <a:spLocks noGrp="1"/>
          </p:cNvSpPr>
          <p:nvPr>
            <p:ph type="title"/>
          </p:nvPr>
        </p:nvSpPr>
        <p:spPr>
          <a:xfrm>
            <a:off x="838200" y="365126"/>
            <a:ext cx="10515600" cy="737534"/>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Workflow Diagram</a:t>
            </a:r>
            <a:endParaRPr lang="en-US" sz="3200" dirty="0"/>
          </a:p>
        </p:txBody>
      </p:sp>
      <p:sp>
        <p:nvSpPr>
          <p:cNvPr id="3" name="Content Placeholder 2">
            <a:extLst>
              <a:ext uri="{FF2B5EF4-FFF2-40B4-BE49-F238E27FC236}">
                <a16:creationId xmlns:a16="http://schemas.microsoft.com/office/drawing/2014/main" id="{A9E36954-260E-6C1D-0BD6-14E0F079EB51}"/>
              </a:ext>
            </a:extLst>
          </p:cNvPr>
          <p:cNvSpPr>
            <a:spLocks noGrp="1"/>
          </p:cNvSpPr>
          <p:nvPr>
            <p:ph idx="1"/>
          </p:nvPr>
        </p:nvSpPr>
        <p:spPr>
          <a:xfrm>
            <a:off x="838200" y="995084"/>
            <a:ext cx="10515600" cy="5047128"/>
          </a:xfrm>
        </p:spPr>
        <p:txBody>
          <a:bodyPr>
            <a:normAutofit fontScale="85000" lnSpcReduction="20000"/>
          </a:bodyPr>
          <a:lstStyle/>
          <a:p>
            <a:pPr marL="0" indent="0" algn="ctr">
              <a:buNone/>
            </a:pPr>
            <a:r>
              <a:rPr lang="en-US" b="1" dirty="0">
                <a:latin typeface="Times New Roman" panose="02020603050405020304" pitchFamily="18" charset="0"/>
                <a:cs typeface="Times New Roman" panose="02020603050405020304" pitchFamily="18" charset="0"/>
              </a:rPr>
              <a:t>PDF Report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PDF → HTML Conversion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Data Extraction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Flask API Processing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Database Storage / Retrieval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API Response to Frontend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React UI Rendering (Async Fetch)</a:t>
            </a:r>
          </a:p>
        </p:txBody>
      </p:sp>
      <p:sp>
        <p:nvSpPr>
          <p:cNvPr id="4" name="Date Placeholder 3">
            <a:extLst>
              <a:ext uri="{FF2B5EF4-FFF2-40B4-BE49-F238E27FC236}">
                <a16:creationId xmlns:a16="http://schemas.microsoft.com/office/drawing/2014/main" id="{731DCA35-E5BD-6E34-041E-D30D99A620E8}"/>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16F153F-1AE3-A541-68DD-427064427288}"/>
              </a:ext>
            </a:extLst>
          </p:cNvPr>
          <p:cNvSpPr>
            <a:spLocks noGrp="1"/>
          </p:cNvSpPr>
          <p:nvPr>
            <p:ph type="sldNum" sz="quarter" idx="12"/>
          </p:nvPr>
        </p:nvSpPr>
        <p:spPr/>
        <p:txBody>
          <a:bodyPr/>
          <a:lstStyle/>
          <a:p>
            <a:fld id="{F32F6845-8F47-4AB8-B9CE-96D88E741707}" type="slidenum">
              <a:rPr lang="en-IN" smtClean="0"/>
              <a:pPr/>
              <a:t>16</a:t>
            </a:fld>
            <a:endParaRPr lang="en-IN" dirty="0"/>
          </a:p>
        </p:txBody>
      </p:sp>
    </p:spTree>
    <p:extLst>
      <p:ext uri="{BB962C8B-B14F-4D97-AF65-F5344CB8AC3E}">
        <p14:creationId xmlns:p14="http://schemas.microsoft.com/office/powerpoint/2010/main" val="1816478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22486-A5A9-D908-B135-47EFB0F2D899}"/>
              </a:ext>
            </a:extLst>
          </p:cNvPr>
          <p:cNvSpPr>
            <a:spLocks noGrp="1"/>
          </p:cNvSpPr>
          <p:nvPr>
            <p:ph type="title"/>
          </p:nvPr>
        </p:nvSpPr>
        <p:spPr>
          <a:xfrm>
            <a:off x="775447" y="136525"/>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a:r>
            <a:endParaRPr lang="en-US" sz="3200" dirty="0"/>
          </a:p>
        </p:txBody>
      </p:sp>
      <p:sp>
        <p:nvSpPr>
          <p:cNvPr id="4" name="Date Placeholder 3">
            <a:extLst>
              <a:ext uri="{FF2B5EF4-FFF2-40B4-BE49-F238E27FC236}">
                <a16:creationId xmlns:a16="http://schemas.microsoft.com/office/drawing/2014/main" id="{FE1930E7-9DA2-50ED-CC3A-04AB201D417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58763D0E-F551-F8E9-E03B-F5357111543C}"/>
              </a:ext>
            </a:extLst>
          </p:cNvPr>
          <p:cNvSpPr>
            <a:spLocks noGrp="1"/>
          </p:cNvSpPr>
          <p:nvPr>
            <p:ph type="sldNum" sz="quarter" idx="12"/>
          </p:nvPr>
        </p:nvSpPr>
        <p:spPr/>
        <p:txBody>
          <a:bodyPr/>
          <a:lstStyle/>
          <a:p>
            <a:fld id="{F32F6845-8F47-4AB8-B9CE-96D88E741707}" type="slidenum">
              <a:rPr lang="en-IN" smtClean="0"/>
              <a:pPr/>
              <a:t>17</a:t>
            </a:fld>
            <a:endParaRPr lang="en-IN" dirty="0"/>
          </a:p>
        </p:txBody>
      </p:sp>
      <p:sp>
        <p:nvSpPr>
          <p:cNvPr id="7" name="Rectangle 2">
            <a:extLst>
              <a:ext uri="{FF2B5EF4-FFF2-40B4-BE49-F238E27FC236}">
                <a16:creationId xmlns:a16="http://schemas.microsoft.com/office/drawing/2014/main" id="{05F86643-4416-6A4B-D72D-DCB429A38467}"/>
              </a:ext>
            </a:extLst>
          </p:cNvPr>
          <p:cNvSpPr>
            <a:spLocks noGrp="1" noChangeArrowheads="1"/>
          </p:cNvSpPr>
          <p:nvPr>
            <p:ph idx="1"/>
          </p:nvPr>
        </p:nvSpPr>
        <p:spPr bwMode="auto">
          <a:xfrm>
            <a:off x="775447" y="1005371"/>
            <a:ext cx="10510057"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REST APIs using Python Flask connected with SQL Server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Refactored APIs from synchronous to asynchronous using async/await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efficient report processing for large datasets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PDF reports into HTML for structured extraction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React frontend with asynchronous data fetching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integrated full-stack workflow</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validated using Postman</a:t>
            </a:r>
          </a:p>
        </p:txBody>
      </p:sp>
    </p:spTree>
    <p:extLst>
      <p:ext uri="{BB962C8B-B14F-4D97-AF65-F5344CB8AC3E}">
        <p14:creationId xmlns:p14="http://schemas.microsoft.com/office/powerpoint/2010/main" val="1494968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graphicFrame>
        <p:nvGraphicFramePr>
          <p:cNvPr id="9" name="Content Placeholder 7">
            <a:extLst>
              <a:ext uri="{FF2B5EF4-FFF2-40B4-BE49-F238E27FC236}">
                <a16:creationId xmlns:a16="http://schemas.microsoft.com/office/drawing/2014/main" id="{6882F925-A7CE-C8D9-2C2B-3454BD1C4DD8}"/>
              </a:ext>
            </a:extLst>
          </p:cNvPr>
          <p:cNvGraphicFramePr>
            <a:graphicFrameLocks/>
          </p:cNvGraphicFramePr>
          <p:nvPr>
            <p:extLst>
              <p:ext uri="{D42A27DB-BD31-4B8C-83A1-F6EECF244321}">
                <p14:modId xmlns:p14="http://schemas.microsoft.com/office/powerpoint/2010/main" val="562406978"/>
              </p:ext>
            </p:extLst>
          </p:nvPr>
        </p:nvGraphicFramePr>
        <p:xfrm>
          <a:off x="470371" y="1399902"/>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19</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hlinkClick r:id="rId2"/>
              </a:rPr>
              <a:t>https://github.com/kkeerthireddy777/CSE7302-_INTERNSHIP</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5621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20</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7818</TotalTime>
  <Words>948</Words>
  <Application>Microsoft Office PowerPoint</Application>
  <PresentationFormat>Widescreen</PresentationFormat>
  <Paragraphs>189</Paragraphs>
  <Slides>21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 </vt:lpstr>
      <vt:lpstr>Workflow Diagram</vt:lpstr>
      <vt:lpstr>System Implementation </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Keerthi K</cp:lastModifiedBy>
  <cp:revision>728</cp:revision>
  <dcterms:created xsi:type="dcterms:W3CDTF">2022-10-14T07:18:17Z</dcterms:created>
  <dcterms:modified xsi:type="dcterms:W3CDTF">2026-04-23T00:50:24Z</dcterms:modified>
</cp:coreProperties>
</file>