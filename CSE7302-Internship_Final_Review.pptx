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81" r:id="rId2"/>
    <p:sldId id="270" r:id="rId3"/>
    <p:sldId id="283" r:id="rId4"/>
    <p:sldId id="284" r:id="rId5"/>
    <p:sldId id="285" r:id="rId6"/>
    <p:sldId id="286" r:id="rId7"/>
    <p:sldId id="287" r:id="rId8"/>
    <p:sldId id="288" r:id="rId9"/>
    <p:sldId id="289" r:id="rId10"/>
    <p:sldId id="290" r:id="rId11"/>
    <p:sldId id="291" r:id="rId12"/>
    <p:sldId id="292" r:id="rId13"/>
    <p:sldId id="293" r:id="rId14"/>
    <p:sldId id="294" r:id="rId15"/>
    <p:sldId id="295" r:id="rId16"/>
    <p:sldId id="296" r:id="rId17"/>
    <p:sldId id="297" r:id="rId18"/>
    <p:sldId id="280" r:id="rId19"/>
    <p:sldId id="304" r:id="rId20"/>
    <p:sldId id="305" r:id="rId21"/>
    <p:sldId id="306" r:id="rId22"/>
    <p:sldId id="307" r:id="rId23"/>
    <p:sldId id="308" r:id="rId24"/>
    <p:sldId id="309" r:id="rId25"/>
    <p:sldId id="310" r:id="rId26"/>
    <p:sldId id="311" r:id="rId27"/>
    <p:sldId id="312" r:id="rId28"/>
    <p:sldId id="313" r:id="rId29"/>
    <p:sldId id="314" r:id="rId30"/>
    <p:sldId id="315" r:id="rId31"/>
    <p:sldId id="316" r:id="rId32"/>
    <p:sldId id="302" r:id="rId33"/>
    <p:sldId id="303" r:id="rId34"/>
    <p:sldId id="301" r:id="rId35"/>
    <p:sldId id="282" r:id="rId36"/>
    <p:sldId id="266" r:id="rId37"/>
    <p:sldId id="298" r:id="rId38"/>
    <p:sldId id="299" r:id="rId39"/>
    <p:sldId id="30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81" d="100"/>
          <a:sy n="81" d="100"/>
        </p:scale>
        <p:origin x="754" y="5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custT="1"/>
      <dgm:spPr/>
      <dgm:t>
        <a:bodyPr/>
        <a:lstStyle/>
        <a:p>
          <a:r>
            <a:rPr lang="en-US" sz="2000" dirty="0">
              <a:latin typeface="Times New Roman" panose="02020603050405020304" pitchFamily="18" charset="0"/>
              <a:cs typeface="Times New Roman" panose="02020603050405020304" pitchFamily="18" charset="0"/>
            </a:rPr>
            <a:t>Database design</a:t>
          </a: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phldr="0" custT="1"/>
      <dgm:spPr/>
      <dgm:t>
        <a:bodyPr/>
        <a:lstStyle/>
        <a:p>
          <a:r>
            <a:rPr lang="en-US" sz="2000" dirty="0">
              <a:latin typeface="Times New Roman" panose="02020603050405020304" pitchFamily="18" charset="0"/>
              <a:cs typeface="Times New Roman" panose="02020603050405020304" pitchFamily="18" charset="0"/>
            </a:rPr>
            <a:t>API + ReactJS </a:t>
          </a: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phldr="0" custT="1"/>
      <dgm:spPr/>
      <dgm:t>
        <a:bodyPr/>
        <a:lstStyle/>
        <a:p>
          <a:pPr algn="r"/>
          <a:r>
            <a:rPr lang="en-US" sz="2000" dirty="0">
              <a:latin typeface="Times New Roman" panose="02020603050405020304" pitchFamily="18" charset="0"/>
              <a:cs typeface="Times New Roman" panose="02020603050405020304" pitchFamily="18" charset="0"/>
            </a:rPr>
            <a:t>Frontend implementation</a:t>
          </a: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54C22EDE-9B0D-48F2-BE5B-86D1B91F2DEC}">
      <dgm:prSet custT="1"/>
      <dgm:spPr/>
      <dgm:t>
        <a:bodyPr/>
        <a:lstStyle/>
        <a:p>
          <a:r>
            <a:rPr lang="en-US" sz="2000" dirty="0">
              <a:latin typeface="Times New Roman" panose="02020603050405020304" pitchFamily="18" charset="0"/>
              <a:cs typeface="Times New Roman" panose="02020603050405020304" pitchFamily="18" charset="0"/>
            </a:rPr>
            <a:t>Backend completion</a:t>
          </a:r>
          <a:endParaRPr lang="en-IN" sz="2000" dirty="0"/>
        </a:p>
      </dgm:t>
    </dgm:pt>
    <dgm:pt modelId="{E2D0728A-878E-4C60-852E-858A86EDAC27}" type="parTrans" cxnId="{96094108-CC20-4458-BD1C-8C00E9D8E362}">
      <dgm:prSet/>
      <dgm:spPr/>
      <dgm:t>
        <a:bodyPr/>
        <a:lstStyle/>
        <a:p>
          <a:endParaRPr lang="en-IN"/>
        </a:p>
      </dgm:t>
    </dgm:pt>
    <dgm:pt modelId="{2BF8CDC2-6E95-4CE4-A057-9C3C32BDDAE7}" type="sibTrans" cxnId="{96094108-CC20-4458-BD1C-8C00E9D8E362}">
      <dgm:prSet/>
      <dgm:spPr/>
      <dgm:t>
        <a:bodyPr/>
        <a:lstStyle/>
        <a:p>
          <a:endParaRPr lang="en-IN"/>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96094108-CC20-4458-BD1C-8C00E9D8E362}" srcId="{5E92505A-51E0-4F78-B3C5-704ACF8710DE}" destId="{54C22EDE-9B0D-48F2-BE5B-86D1B91F2DEC}" srcOrd="0" destOrd="0" parTransId="{E2D0728A-878E-4C60-852E-858A86EDAC27}" sibTransId="{2BF8CDC2-6E95-4CE4-A057-9C3C32BDDAE7}"/>
    <dgm:cxn modelId="{521FD508-C5FD-4804-AFDC-D1FF9945B211}" srcId="{5751524B-FB67-4894-A0C5-35151E149D68}" destId="{65C051F6-A849-4495-A964-CD4C650B9C06}" srcOrd="4" destOrd="0" parTransId="{C24738E5-1547-4D8D-A2CE-64D703ECDF78}" sibTransId="{196A2EB9-DD96-4630-B699-7AF000340374}"/>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89757B14-35E5-4258-932B-6AEA25DD1D2A}" type="presOf" srcId="{54C22EDE-9B0D-48F2-BE5B-86D1B91F2DEC}" destId="{FC0F1314-3294-4A8C-8DCE-EB53E236164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940B4C9B-D5E4-4E48-A872-B455F86EA2F7}" type="presOf" srcId="{D471E45F-B026-44AA-9616-57E786AE80AF}" destId="{1C91D7E3-8940-4A33-9182-677DD5415901}" srcOrd="1" destOrd="0" presId="urn:microsoft.com/office/officeart/2011/layout/InterconnectedBlockProcess"/>
    <dgm:cxn modelId="{4AC0349F-C349-4D50-AED5-903C18582E24}" type="presOf" srcId="{54C22EDE-9B0D-48F2-BE5B-86D1B91F2DEC}" destId="{98225A61-A0EC-450A-BED8-EF2E47E8FD18}"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1BA1DD0-A52A-47BF-962D-9810C87E1576}" srcId="{5751524B-FB67-4894-A0C5-35151E149D68}" destId="{A59EC69B-8F3F-425B-819F-E8C557946AEE}" srcOrd="2" destOrd="0" parTransId="{0095C3CB-916F-4060-A8DA-DD282FB51587}" sibTransId="{2868AD8D-4E38-46CE-A972-709857BF40AC}"/>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AEE28BEF-3F73-41A5-9307-D42A450FCA17}" srcId="{988D96B0-D16E-4763-B393-84178CF4FF50}" destId="{D471E45F-B026-44AA-9616-57E786AE80AF}" srcOrd="0" destOrd="0" parTransId="{326A986D-69A4-4AC0-AD9B-462FFC9C3F18}" sibTransId="{304E70AD-39C7-4C28-BF7B-6EE91BAE97B7}"/>
    <dgm:cxn modelId="{8CB593F6-6C5D-4606-B959-3E27F9872EC1}" srcId="{5751524B-FB67-4894-A0C5-35151E149D68}" destId="{988D96B0-D16E-4763-B393-84178CF4FF50}" srcOrd="0" destOrd="0" parTransId="{080A6B9D-C27D-4227-AC65-3C97878D78C4}" sibTransId="{19B27CEC-4BAD-44A7-A9A7-B7A8B23ADCFD}"/>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8"/>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8"/>
      </dsp:txXfrm>
    </dsp:sp>
    <dsp:sp modelId="{FC0F1314-3294-4A8C-8DCE-EB53E236164C}">
      <dsp:nvSpPr>
        <dsp:cNvPr id="0" name=""/>
        <dsp:cNvSpPr/>
      </dsp:nvSpPr>
      <dsp:spPr>
        <a:xfrm>
          <a:off x="5898557" y="811638"/>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Backend completion</a:t>
          </a:r>
          <a:endParaRPr lang="en-IN" sz="2000" kern="1200" dirty="0"/>
        </a:p>
      </dsp:txBody>
      <dsp:txXfrm>
        <a:off x="6060823" y="811638"/>
        <a:ext cx="1116055" cy="3043646"/>
      </dsp:txXfrm>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8"/>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Frontend implementation</a:t>
          </a:r>
        </a:p>
      </dsp:txBody>
      <dsp:txXfrm>
        <a:off x="4782502" y="811638"/>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8"/>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API + ReactJS </a:t>
          </a:r>
        </a:p>
      </dsp:txBody>
      <dsp:txXfrm>
        <a:off x="3504181" y="811638"/>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8"/>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3500" tIns="63500" rIns="63500" bIns="63500" numCol="1" spcCol="1270" anchor="t" anchorCtr="0">
          <a:noAutofit/>
        </a:bodyPr>
        <a:lstStyle/>
        <a:p>
          <a:pPr marL="0" lvl="0" indent="0" algn="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Database design</a:t>
          </a:r>
        </a:p>
      </dsp:txBody>
      <dsp:txXfrm>
        <a:off x="2225860" y="811638"/>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376AD5-644F-43F2-AE58-03E69682690D}" type="datetimeFigureOut">
              <a:rPr lang="en-IN" smtClean="0"/>
              <a:t>23-04-2026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A0A970-3819-403E-8905-A8FB978C5C45}" type="slidenum">
              <a:rPr lang="en-IN" smtClean="0"/>
              <a:t>‹#›</a:t>
            </a:fld>
            <a:endParaRPr lang="en-IN"/>
          </a:p>
        </p:txBody>
      </p:sp>
    </p:spTree>
    <p:extLst>
      <p:ext uri="{BB962C8B-B14F-4D97-AF65-F5344CB8AC3E}">
        <p14:creationId xmlns:p14="http://schemas.microsoft.com/office/powerpoint/2010/main" val="3972670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2A26B-BAF1-9747-2525-6429CE9E94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2F5408-1BA5-4A2C-E163-5932E69033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50237C-9404-0085-986B-AAF959110462}"/>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5" name="Footer Placeholder 4">
            <a:extLst>
              <a:ext uri="{FF2B5EF4-FFF2-40B4-BE49-F238E27FC236}">
                <a16:creationId xmlns:a16="http://schemas.microsoft.com/office/drawing/2014/main" id="{F0DB4B50-3E9C-D594-AE9F-300C76FAE9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3B6F64-39B4-77F2-124E-2B67BAA1C6B0}"/>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3503590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F656A-09B3-70F1-046D-0CACB95B25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1E152E-4A2F-D2EF-4AF8-0FA19D03F1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B8576-30E3-7351-85E1-26846741BE53}"/>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5" name="Footer Placeholder 4">
            <a:extLst>
              <a:ext uri="{FF2B5EF4-FFF2-40B4-BE49-F238E27FC236}">
                <a16:creationId xmlns:a16="http://schemas.microsoft.com/office/drawing/2014/main" id="{5D0D999C-E668-E5E6-DF70-C4E36EDBB3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9FDFF6-F9E8-1A96-9D2D-3BEB7F26FF86}"/>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3027540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3B9DAC-866F-5FEF-F02F-B7DD267AAF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5507E81-26C3-0061-0C9B-6E2F97DBA3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244B93-4999-C2CC-D18C-7F2C811C4FB1}"/>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5" name="Footer Placeholder 4">
            <a:extLst>
              <a:ext uri="{FF2B5EF4-FFF2-40B4-BE49-F238E27FC236}">
                <a16:creationId xmlns:a16="http://schemas.microsoft.com/office/drawing/2014/main" id="{DBFF61D1-02F0-BE80-B6CD-5DB48548FC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847DE0-A9A4-A6B2-15F9-B2500301F455}"/>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2155116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A80E7-8ED8-8CA9-AC9D-AD925BBEBF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5A804B-E9BD-AEF8-99D3-BB150555F4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BB926BC-B8E8-D53C-9594-66B8730E8F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EE24CBD-9A4A-F738-7E20-90BAEB0F972A}"/>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6" name="Footer Placeholder 5">
            <a:extLst>
              <a:ext uri="{FF2B5EF4-FFF2-40B4-BE49-F238E27FC236}">
                <a16:creationId xmlns:a16="http://schemas.microsoft.com/office/drawing/2014/main" id="{6C8C2FA1-768E-0F9A-8B11-840A88EE6B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B042AD-09BE-D0C6-CB14-E3336B88AEDF}"/>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4193421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ABA72-0329-D8A7-28F1-CB97D660B1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7C9E80F-74FC-C4F6-386E-EF841A8EBA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9F3C30-0082-CFEF-D42F-D9FA1E7C2A3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EC0CF4-EEEE-A2D5-73E9-E6B33B8A8E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99C2FD-BC9C-CA12-7DA1-8184A4E599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15F884-9D51-10E3-C930-11DE5CA7E059}"/>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8" name="Footer Placeholder 7">
            <a:extLst>
              <a:ext uri="{FF2B5EF4-FFF2-40B4-BE49-F238E27FC236}">
                <a16:creationId xmlns:a16="http://schemas.microsoft.com/office/drawing/2014/main" id="{CC4E7AE2-AF8C-E1DD-5ACB-7D2C9C4F1A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E4B0F75-EE66-0A28-2064-E88CCAEE0592}"/>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2355795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3987-A725-FEF5-1D39-522984FDE2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99C71B-057D-C984-89F9-11DEBB358120}"/>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4" name="Footer Placeholder 3">
            <a:extLst>
              <a:ext uri="{FF2B5EF4-FFF2-40B4-BE49-F238E27FC236}">
                <a16:creationId xmlns:a16="http://schemas.microsoft.com/office/drawing/2014/main" id="{4CFC3076-7E2C-598A-86F3-AA10395EE4D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A7D866-6A67-8F16-FF4A-CFF10041F107}"/>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938517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B87C84-3944-9131-8238-A6EDAA0484DB}"/>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3" name="Footer Placeholder 2">
            <a:extLst>
              <a:ext uri="{FF2B5EF4-FFF2-40B4-BE49-F238E27FC236}">
                <a16:creationId xmlns:a16="http://schemas.microsoft.com/office/drawing/2014/main" id="{D49BDC9F-AE4C-B31C-0B57-DB2AD17624B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61C5D5-5DF4-E2C6-DC56-9E083AD679DC}"/>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1548086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6B27D-F453-FB1F-96AA-E0FCD86C3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3E19C47-6E1D-EE9E-8227-EEEBEF1AB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26FE752-D120-EFD8-B02B-B16FC9C50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DC139-4883-CBD6-490F-FE62BCA3F41F}"/>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6" name="Footer Placeholder 5">
            <a:extLst>
              <a:ext uri="{FF2B5EF4-FFF2-40B4-BE49-F238E27FC236}">
                <a16:creationId xmlns:a16="http://schemas.microsoft.com/office/drawing/2014/main" id="{7C5AA91B-2AEE-4120-1DF9-6E80BD8C30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11EEDF-5C49-BEA6-3E02-45F1C75AEFDE}"/>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161140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7EA55-B90D-AE58-870E-841AEF7A8B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47F6F97-A4B9-20E1-633A-B2CE8A8033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F5D9D5-76A4-014F-E60F-5E4A27F176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6119A5-3364-6523-B99A-C1F8D01B2138}"/>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6" name="Footer Placeholder 5">
            <a:extLst>
              <a:ext uri="{FF2B5EF4-FFF2-40B4-BE49-F238E27FC236}">
                <a16:creationId xmlns:a16="http://schemas.microsoft.com/office/drawing/2014/main" id="{4CAD026F-7004-9116-CD05-E4920B9D2A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51AAB2B-9F4C-7315-9690-E96D95410CAA}"/>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237105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B8482-0362-F9EA-E5E3-B140522CEBE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5A757FD-530E-8D7D-6641-30B116ABDD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FA9246-5045-42CB-C634-093A430F9CC0}"/>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5" name="Footer Placeholder 4">
            <a:extLst>
              <a:ext uri="{FF2B5EF4-FFF2-40B4-BE49-F238E27FC236}">
                <a16:creationId xmlns:a16="http://schemas.microsoft.com/office/drawing/2014/main" id="{6F79259D-AD55-5A4D-C659-EC94701936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5CFECD-0D6F-6963-0BA1-EBF919C731DC}"/>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3494519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7E0ED-FE07-04A0-9477-4C43B7B871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2F7DA6-FCC2-1815-1FA6-B9080790F2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EB92C8-FF27-6C08-15D7-38D5FA4809AF}"/>
              </a:ext>
            </a:extLst>
          </p:cNvPr>
          <p:cNvSpPr>
            <a:spLocks noGrp="1"/>
          </p:cNvSpPr>
          <p:nvPr>
            <p:ph type="dt" sz="half" idx="10"/>
          </p:nvPr>
        </p:nvSpPr>
        <p:spPr/>
        <p:txBody>
          <a:bodyPr/>
          <a:lstStyle/>
          <a:p>
            <a:fld id="{093C19EB-21B6-4532-A663-40CA131E5135}" type="datetimeFigureOut">
              <a:rPr lang="en-IN" smtClean="0"/>
              <a:t>23-04-2026</a:t>
            </a:fld>
            <a:endParaRPr lang="en-IN"/>
          </a:p>
        </p:txBody>
      </p:sp>
      <p:sp>
        <p:nvSpPr>
          <p:cNvPr id="5" name="Footer Placeholder 4">
            <a:extLst>
              <a:ext uri="{FF2B5EF4-FFF2-40B4-BE49-F238E27FC236}">
                <a16:creationId xmlns:a16="http://schemas.microsoft.com/office/drawing/2014/main" id="{0A6DF9E1-334E-D077-8F76-F088DCBEF8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A4811E-ADEF-0855-6F41-4AA9087DB144}"/>
              </a:ext>
            </a:extLst>
          </p:cNvPr>
          <p:cNvSpPr>
            <a:spLocks noGrp="1"/>
          </p:cNvSpPr>
          <p:nvPr>
            <p:ph type="sldNum" sz="quarter" idx="12"/>
          </p:nvPr>
        </p:nvSpPr>
        <p:spPr/>
        <p:txBody>
          <a:bodyPr/>
          <a:lstStyle/>
          <a:p>
            <a:fld id="{C6801EAC-6589-4270-A0A0-70B15249134D}" type="slidenum">
              <a:rPr lang="en-IN" smtClean="0"/>
              <a:t>‹#›</a:t>
            </a:fld>
            <a:endParaRPr lang="en-IN"/>
          </a:p>
        </p:txBody>
      </p:sp>
    </p:spTree>
    <p:extLst>
      <p:ext uri="{BB962C8B-B14F-4D97-AF65-F5344CB8AC3E}">
        <p14:creationId xmlns:p14="http://schemas.microsoft.com/office/powerpoint/2010/main" val="856456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909D68-3C97-0F07-2DED-2624AD328B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48AF75-934D-3446-6E4F-CB34DB17E2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5556EB-1489-DBC0-A649-FBEF1D2C0B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3C19EB-21B6-4532-A663-40CA131E5135}" type="datetimeFigureOut">
              <a:rPr lang="en-IN" smtClean="0"/>
              <a:t>23-04-2026</a:t>
            </a:fld>
            <a:endParaRPr lang="en-IN"/>
          </a:p>
        </p:txBody>
      </p:sp>
      <p:sp>
        <p:nvSpPr>
          <p:cNvPr id="5" name="Footer Placeholder 4">
            <a:extLst>
              <a:ext uri="{FF2B5EF4-FFF2-40B4-BE49-F238E27FC236}">
                <a16:creationId xmlns:a16="http://schemas.microsoft.com/office/drawing/2014/main" id="{93C5286C-1E29-0610-3B1C-D47C775841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EBC39CD-CE90-DE12-1EC2-8C1E6050FB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01EAC-6589-4270-A0A0-70B15249134D}" type="slidenum">
              <a:rPr lang="en-IN" smtClean="0"/>
              <a:t>‹#›</a:t>
            </a:fld>
            <a:endParaRPr lang="en-IN"/>
          </a:p>
        </p:txBody>
      </p:sp>
    </p:spTree>
    <p:extLst>
      <p:ext uri="{BB962C8B-B14F-4D97-AF65-F5344CB8AC3E}">
        <p14:creationId xmlns:p14="http://schemas.microsoft.com/office/powerpoint/2010/main" val="904230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7.xml.rels><?xml version="1.0" encoding="UTF-8" standalone="yes"?>
<Relationships xmlns="http://schemas.openxmlformats.org/package/2006/relationships"><Relationship Id="rId2" Type="http://schemas.openxmlformats.org/officeDocument/2006/relationships/hyperlink" Target="https://github.com/kkeerthireddy777/CSE7302-_INTERNSHIP"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Sree</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hari T M</a:t>
            </a:r>
            <a:endParaRPr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dirty="0">
                <a:solidFill>
                  <a:srgbClr val="17365D"/>
                </a:solidFill>
                <a:latin typeface="Cambria" panose="02040503050406030204" pitchFamily="18" charset="0"/>
                <a:ea typeface="Cambria" panose="02040503050406030204" pitchFamily="18" charset="0"/>
                <a:cs typeface="Verdana"/>
                <a:sym typeface="Verdana"/>
              </a:rPr>
              <a:t>Assistant </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latin typeface="Cambria" panose="02040503050406030204" pitchFamily="18" charset="0"/>
                <a:ea typeface="Cambria" panose="02040503050406030204" pitchFamily="18" charset="0"/>
                <a:cs typeface="Verdana"/>
                <a:sym typeface="Verdana"/>
              </a:rPr>
              <a:t>CSE7302</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Gopal Shyam</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i="0" u="none" strike="noStrike" cap="none" dirty="0">
                <a:latin typeface="Cambria" panose="02040503050406030204" pitchFamily="18" charset="0"/>
                <a:ea typeface="Cambria" panose="02040503050406030204" pitchFamily="18" charset="0"/>
                <a:cs typeface="Verdana"/>
                <a:sym typeface="Verdana"/>
              </a:rPr>
              <a:t>Mr. S</a:t>
            </a:r>
            <a:r>
              <a:rPr lang="en-US" sz="2000" b="1" dirty="0">
                <a:latin typeface="Cambria" panose="02040503050406030204" pitchFamily="18" charset="0"/>
                <a:ea typeface="Cambria" panose="02040503050406030204" pitchFamily="18" charset="0"/>
                <a:cs typeface="Verdana"/>
                <a:sym typeface="Verdana"/>
              </a:rPr>
              <a:t>ree</a:t>
            </a:r>
            <a:r>
              <a:rPr lang="en-US" sz="2000" b="1" i="0" u="none" strike="noStrike" cap="none" dirty="0">
                <a:latin typeface="Cambria" panose="02040503050406030204" pitchFamily="18" charset="0"/>
                <a:ea typeface="Cambria" panose="02040503050406030204" pitchFamily="18" charset="0"/>
                <a:cs typeface="Verdana"/>
                <a:sym typeface="Verdana"/>
              </a:rPr>
              <a:t>hari T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9018"/>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Final Review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RWF Manufacturing Management Reports</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K KEERTHI</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20221ISE0046</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8ISE03</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4099568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Testing</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Conclusion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References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892631"/>
            <a:ext cx="10515600" cy="5221298"/>
          </a:xfrm>
        </p:spPr>
        <p:txBody>
          <a:bodyPr>
            <a:noAutofit/>
          </a:bodyPr>
          <a:lstStyle/>
          <a:p>
            <a:r>
              <a:rPr lang="en-US" b="1" dirty="0">
                <a:latin typeface="Times New Roman" panose="02020603050405020304" pitchFamily="18" charset="0"/>
                <a:cs typeface="Times New Roman" panose="02020603050405020304" pitchFamily="18" charset="0"/>
              </a:rPr>
              <a:t>Company / Organization Name: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Rail Wheel Factory (RWF)</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Organization Type: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Government of India Enterprise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(Under Ministry of Railways)</a:t>
            </a:r>
          </a:p>
          <a:p>
            <a:r>
              <a:rPr lang="en-US" b="1" dirty="0">
                <a:latin typeface="Times New Roman" panose="02020603050405020304" pitchFamily="18" charset="0"/>
                <a:cs typeface="Times New Roman" panose="02020603050405020304" pitchFamily="18" charset="0"/>
              </a:rPr>
              <a:t>Location: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Yelahanka, Bengaluru, Karnataka</a:t>
            </a:r>
          </a:p>
          <a:p>
            <a:r>
              <a:rPr lang="en-US" b="1" dirty="0">
                <a:latin typeface="Times New Roman" panose="02020603050405020304" pitchFamily="18" charset="0"/>
                <a:cs typeface="Times New Roman" panose="02020603050405020304" pitchFamily="18" charset="0"/>
              </a:rPr>
              <a:t>Overview:</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one of the major factories that manufactures railway wheels and axles for Indian Railways. These wheels are used in trains, metros, and coaches across the country. RWF plays an important role in keeping the railway system running smoothly and safely.</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790414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B33D8-9E92-143E-DA46-DE735CDDB49B}"/>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13616BEB-44AC-D759-712C-FE2B9D26581D}"/>
              </a:ext>
            </a:extLst>
          </p:cNvPr>
          <p:cNvSpPr>
            <a:spLocks noGrp="1"/>
          </p:cNvSpPr>
          <p:nvPr>
            <p:ph idx="1"/>
          </p:nvPr>
        </p:nvSpPr>
        <p:spPr>
          <a:xfrm>
            <a:off x="838200" y="1565649"/>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Along with manufacturing, RWF also has a strong </a:t>
            </a:r>
            <a:r>
              <a:rPr lang="en-US" b="1" dirty="0">
                <a:latin typeface="Times New Roman" panose="02020603050405020304" pitchFamily="18" charset="0"/>
                <a:cs typeface="Times New Roman" panose="02020603050405020304" pitchFamily="18" charset="0"/>
              </a:rPr>
              <a:t>IT and Systems Department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department handles:</a:t>
            </a:r>
          </a:p>
          <a:p>
            <a:r>
              <a:rPr lang="en-US" dirty="0">
                <a:latin typeface="Times New Roman" panose="02020603050405020304" pitchFamily="18" charset="0"/>
                <a:cs typeface="Times New Roman" panose="02020603050405020304" pitchFamily="18" charset="0"/>
              </a:rPr>
              <a:t>Digital records</a:t>
            </a:r>
          </a:p>
          <a:p>
            <a:r>
              <a:rPr lang="en-US" dirty="0">
                <a:latin typeface="Times New Roman" panose="02020603050405020304" pitchFamily="18" charset="0"/>
                <a:cs typeface="Times New Roman" panose="02020603050405020304" pitchFamily="18" charset="0"/>
              </a:rPr>
              <a:t>Employee and production data</a:t>
            </a:r>
          </a:p>
          <a:p>
            <a:r>
              <a:rPr lang="en-US" dirty="0">
                <a:latin typeface="Times New Roman" panose="02020603050405020304" pitchFamily="18" charset="0"/>
                <a:cs typeface="Times New Roman" panose="02020603050405020304" pitchFamily="18" charset="0"/>
              </a:rPr>
              <a:t>Internal software applications</a:t>
            </a:r>
          </a:p>
          <a:p>
            <a:r>
              <a:rPr lang="en-US" dirty="0">
                <a:latin typeface="Times New Roman" panose="02020603050405020304" pitchFamily="18" charset="0"/>
                <a:cs typeface="Times New Roman" panose="02020603050405020304" pitchFamily="18" charset="0"/>
              </a:rPr>
              <a:t>Database management</a:t>
            </a:r>
          </a:p>
        </p:txBody>
      </p:sp>
      <p:sp>
        <p:nvSpPr>
          <p:cNvPr id="4" name="Date Placeholder 3">
            <a:extLst>
              <a:ext uri="{FF2B5EF4-FFF2-40B4-BE49-F238E27FC236}">
                <a16:creationId xmlns:a16="http://schemas.microsoft.com/office/drawing/2014/main" id="{4D5BCCAA-8C5D-46CB-E56A-2E00A3ABA082}"/>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5C72E486-0DB3-7738-8A8F-67F1F5825064}"/>
              </a:ext>
            </a:extLst>
          </p:cNvPr>
          <p:cNvSpPr>
            <a:spLocks noGrp="1"/>
          </p:cNvSpPr>
          <p:nvPr>
            <p:ph type="sldNum" sz="quarter" idx="12"/>
          </p:nvPr>
        </p:nvSpPr>
        <p:spPr/>
        <p:txBody>
          <a:bodyPr/>
          <a:lstStyle/>
          <a:p>
            <a:fld id="{F32F6845-8F47-4AB8-B9CE-96D88E741707}" type="slidenum">
              <a:rPr lang="en-IN" smtClean="0"/>
              <a:pPr/>
              <a:t>4</a:t>
            </a:fld>
            <a:endParaRPr lang="en-IN" dirty="0"/>
          </a:p>
        </p:txBody>
      </p:sp>
    </p:spTree>
    <p:extLst>
      <p:ext uri="{BB962C8B-B14F-4D97-AF65-F5344CB8AC3E}">
        <p14:creationId xmlns:p14="http://schemas.microsoft.com/office/powerpoint/2010/main" val="756176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3863-C589-C3E6-07B1-0B0522D7A600}"/>
              </a:ext>
            </a:extLst>
          </p:cNvPr>
          <p:cNvSpPr>
            <a:spLocks noGrp="1"/>
          </p:cNvSpPr>
          <p:nvPr>
            <p:ph type="title"/>
          </p:nvPr>
        </p:nvSpPr>
        <p:spPr/>
        <p:txBody>
          <a:bodyPr>
            <a:normAutofit/>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endParaRPr lang="en-IN" sz="3200" dirty="0"/>
          </a:p>
        </p:txBody>
      </p:sp>
      <p:sp>
        <p:nvSpPr>
          <p:cNvPr id="3" name="Content Placeholder 2">
            <a:extLst>
              <a:ext uri="{FF2B5EF4-FFF2-40B4-BE49-F238E27FC236}">
                <a16:creationId xmlns:a16="http://schemas.microsoft.com/office/drawing/2014/main" id="{954E0B21-D003-0AC1-C049-9BC5C9BE6FB4}"/>
              </a:ext>
            </a:extLst>
          </p:cNvPr>
          <p:cNvSpPr>
            <a:spLocks noGrp="1"/>
          </p:cNvSpPr>
          <p:nvPr>
            <p:ph idx="1"/>
          </p:nvPr>
        </p:nvSpPr>
        <p:spPr>
          <a:xfrm>
            <a:off x="838200" y="1511861"/>
            <a:ext cx="10515600" cy="4351338"/>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RWF deals with a large amount of data like:</a:t>
            </a:r>
          </a:p>
          <a:p>
            <a:r>
              <a:rPr lang="en-US" dirty="0">
                <a:latin typeface="Times New Roman" panose="02020603050405020304" pitchFamily="18" charset="0"/>
                <a:cs typeface="Times New Roman" panose="02020603050405020304" pitchFamily="18" charset="0"/>
              </a:rPr>
              <a:t>Employee details</a:t>
            </a:r>
          </a:p>
          <a:p>
            <a:r>
              <a:rPr lang="en-US" dirty="0">
                <a:latin typeface="Times New Roman" panose="02020603050405020304" pitchFamily="18" charset="0"/>
                <a:cs typeface="Times New Roman" panose="02020603050405020304" pitchFamily="18" charset="0"/>
              </a:rPr>
              <a:t>Production records</a:t>
            </a:r>
          </a:p>
          <a:p>
            <a:r>
              <a:rPr lang="en-US" dirty="0">
                <a:latin typeface="Times New Roman" panose="02020603050405020304" pitchFamily="18" charset="0"/>
                <a:cs typeface="Times New Roman" panose="02020603050405020304" pitchFamily="18" charset="0"/>
              </a:rPr>
              <a:t>Machine and process information</a:t>
            </a:r>
          </a:p>
          <a:p>
            <a:pPr marL="0" indent="0">
              <a:buNone/>
            </a:pPr>
            <a:r>
              <a:rPr lang="en-US" dirty="0">
                <a:latin typeface="Times New Roman" panose="02020603050405020304" pitchFamily="18" charset="0"/>
                <a:cs typeface="Times New Roman" panose="02020603050405020304" pitchFamily="18" charset="0"/>
              </a:rPr>
              <a:t>To manage all this data properly, </a:t>
            </a:r>
            <a:r>
              <a:rPr lang="en-US" b="1" dirty="0">
                <a:latin typeface="Times New Roman" panose="02020603050405020304" pitchFamily="18" charset="0"/>
                <a:cs typeface="Times New Roman" panose="02020603050405020304" pitchFamily="18" charset="0"/>
              </a:rPr>
              <a:t>software and databases are used</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is where applications built using </a:t>
            </a:r>
            <a:r>
              <a:rPr lang="en-US" b="1" dirty="0">
                <a:latin typeface="Times New Roman" panose="02020603050405020304" pitchFamily="18" charset="0"/>
                <a:cs typeface="Times New Roman" panose="02020603050405020304" pitchFamily="18" charset="0"/>
              </a:rPr>
              <a:t>Visual Basic and SQL</a:t>
            </a:r>
            <a:r>
              <a:rPr lang="en-US" dirty="0">
                <a:latin typeface="Times New Roman" panose="02020603050405020304" pitchFamily="18" charset="0"/>
                <a:cs typeface="Times New Roman" panose="02020603050405020304" pitchFamily="18" charset="0"/>
              </a:rPr>
              <a:t> are helpful, as they allow users to easily store, update, and retrieve information through a simple interface.</a:t>
            </a:r>
          </a:p>
          <a:p>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0A84A37-F45F-E67C-90DA-849F378EC27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E7495C2F-4372-D7DE-CEEA-BE985BC25F94}"/>
              </a:ext>
            </a:extLst>
          </p:cNvPr>
          <p:cNvSpPr>
            <a:spLocks noGrp="1"/>
          </p:cNvSpPr>
          <p:nvPr>
            <p:ph type="sldNum" sz="quarter" idx="12"/>
          </p:nvPr>
        </p:nvSpPr>
        <p:spPr/>
        <p:txBody>
          <a:bodyPr/>
          <a:lstStyle/>
          <a:p>
            <a:fld id="{F32F6845-8F47-4AB8-B9CE-96D88E741707}" type="slidenum">
              <a:rPr lang="en-IN" smtClean="0"/>
              <a:pPr/>
              <a:t>5</a:t>
            </a:fld>
            <a:endParaRPr lang="en-IN" dirty="0"/>
          </a:p>
        </p:txBody>
      </p:sp>
    </p:spTree>
    <p:extLst>
      <p:ext uri="{BB962C8B-B14F-4D97-AF65-F5344CB8AC3E}">
        <p14:creationId xmlns:p14="http://schemas.microsoft.com/office/powerpoint/2010/main" val="163452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5308508"/>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Internship Domain: FULL-STACK DEVELOPMENT</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rPr>
              <a:t>Technologies Used:</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 SQL Server</a:t>
            </a:r>
          </a:p>
          <a:p>
            <a:r>
              <a:rPr lang="en-IN" sz="2400" b="1" dirty="0">
                <a:latin typeface="Times New Roman" panose="02020603050405020304" pitchFamily="18" charset="0"/>
                <a:cs typeface="Times New Roman" panose="02020603050405020304" pitchFamily="18" charset="0"/>
              </a:rPr>
              <a:t>Backend:</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FastAPI</a:t>
            </a:r>
            <a:r>
              <a:rPr lang="en-IN" sz="2400" dirty="0">
                <a:latin typeface="Times New Roman" panose="02020603050405020304" pitchFamily="18" charset="0"/>
                <a:cs typeface="Times New Roman" panose="02020603050405020304" pitchFamily="18" charset="0"/>
              </a:rPr>
              <a:t> (Async REST APIs)</a:t>
            </a:r>
          </a:p>
          <a:p>
            <a:r>
              <a:rPr lang="en-IN" sz="2400" b="1" dirty="0">
                <a:latin typeface="Times New Roman" panose="02020603050405020304" pitchFamily="18" charset="0"/>
                <a:cs typeface="Times New Roman" panose="02020603050405020304" pitchFamily="18" charset="0"/>
              </a:rPr>
              <a:t>Frontend:</a:t>
            </a:r>
            <a:r>
              <a:rPr lang="en-IN" sz="2400" dirty="0">
                <a:latin typeface="Times New Roman" panose="02020603050405020304" pitchFamily="18" charset="0"/>
                <a:cs typeface="Times New Roman" panose="02020603050405020304" pitchFamily="18" charset="0"/>
              </a:rPr>
              <a:t> ReactJS</a:t>
            </a:r>
          </a:p>
          <a:p>
            <a:r>
              <a:rPr lang="en-IN" sz="2400" b="1" dirty="0">
                <a:latin typeface="Times New Roman" panose="02020603050405020304" pitchFamily="18" charset="0"/>
                <a:cs typeface="Times New Roman" panose="02020603050405020304" pitchFamily="18" charset="0"/>
              </a:rPr>
              <a:t>API Testing:</a:t>
            </a:r>
            <a:r>
              <a:rPr lang="en-IN" sz="2400" dirty="0">
                <a:latin typeface="Times New Roman" panose="02020603050405020304" pitchFamily="18" charset="0"/>
                <a:cs typeface="Times New Roman" panose="02020603050405020304" pitchFamily="18" charset="0"/>
              </a:rPr>
              <a:t> Postman</a:t>
            </a:r>
          </a:p>
          <a:p>
            <a:r>
              <a:rPr lang="en-IN" sz="2400" b="1" dirty="0">
                <a:latin typeface="Times New Roman" panose="02020603050405020304" pitchFamily="18" charset="0"/>
                <a:cs typeface="Times New Roman" panose="02020603050405020304" pitchFamily="18" charset="0"/>
              </a:rPr>
              <a:t>Version Control:</a:t>
            </a:r>
            <a:r>
              <a:rPr lang="en-IN" sz="2400" dirty="0">
                <a:latin typeface="Times New Roman" panose="02020603050405020304" pitchFamily="18" charset="0"/>
                <a:cs typeface="Times New Roman" panose="02020603050405020304" pitchFamily="18" charset="0"/>
              </a:rPr>
              <a:t> GitHub</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4208144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184366"/>
            <a:ext cx="10515600" cy="4830951"/>
          </a:xfrm>
        </p:spPr>
        <p:txBody>
          <a:bodyPr>
            <a:noAutofit/>
          </a:bodyPr>
          <a:lstStyle/>
          <a:p>
            <a:r>
              <a:rPr lang="en-US" dirty="0">
                <a:latin typeface="Times New Roman" panose="02020603050405020304" pitchFamily="18" charset="0"/>
                <a:cs typeface="Times New Roman" panose="02020603050405020304" pitchFamily="18" charset="0"/>
              </a:rPr>
              <a:t>Reporting Manager: Mr. Buddha Appa Rao, Senior Section Engineer (SSE) at Rail Wheel Factory.</a:t>
            </a:r>
          </a:p>
          <a:p>
            <a:r>
              <a:rPr lang="en-US" dirty="0">
                <a:latin typeface="Times New Roman" panose="02020603050405020304" pitchFamily="18" charset="0"/>
                <a:cs typeface="Times New Roman" panose="02020603050405020304" pitchFamily="18" charset="0"/>
              </a:rPr>
              <a:t>Internship is conducted in batch.</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1866266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
        <p:nvSpPr>
          <p:cNvPr id="9" name="Rectangle 5">
            <a:extLst>
              <a:ext uri="{FF2B5EF4-FFF2-40B4-BE49-F238E27FC236}">
                <a16:creationId xmlns:a16="http://schemas.microsoft.com/office/drawing/2014/main" id="{22E0E85B-EB34-8E02-81ED-96D116E93F41}"/>
              </a:ext>
            </a:extLst>
          </p:cNvPr>
          <p:cNvSpPr>
            <a:spLocks noGrp="1" noChangeArrowheads="1"/>
          </p:cNvSpPr>
          <p:nvPr>
            <p:ph idx="1"/>
          </p:nvPr>
        </p:nvSpPr>
        <p:spPr bwMode="auto">
          <a:xfrm>
            <a:off x="838200" y="1184366"/>
            <a:ext cx="814443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Learning how database tables are connected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Dealing with missing or repeated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Fixing errors while connecting the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Linking frontend with backend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Making sure data stays correct everywhere</a:t>
            </a:r>
          </a:p>
        </p:txBody>
      </p:sp>
    </p:spTree>
    <p:extLst>
      <p:ext uri="{BB962C8B-B14F-4D97-AF65-F5344CB8AC3E}">
        <p14:creationId xmlns:p14="http://schemas.microsoft.com/office/powerpoint/2010/main" val="4065139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
        <p:nvSpPr>
          <p:cNvPr id="5" name="Rectangle 2">
            <a:extLst>
              <a:ext uri="{FF2B5EF4-FFF2-40B4-BE49-F238E27FC236}">
                <a16:creationId xmlns:a16="http://schemas.microsoft.com/office/drawing/2014/main" id="{61AB3FE3-71AE-81DB-7895-18147F84C314}"/>
              </a:ext>
            </a:extLst>
          </p:cNvPr>
          <p:cNvSpPr>
            <a:spLocks noGrp="1" noChangeArrowheads="1"/>
          </p:cNvSpPr>
          <p:nvPr>
            <p:ph idx="1"/>
          </p:nvPr>
        </p:nvSpPr>
        <p:spPr bwMode="auto">
          <a:xfrm>
            <a:off x="838200" y="863144"/>
            <a:ext cx="10287000" cy="40554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 web-based reporting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t>
            </a:r>
            <a:r>
              <a:rPr lang="en-US" altLang="en-US" dirty="0" err="1">
                <a:latin typeface="Times New Roman" panose="02020603050405020304" pitchFamily="18" charset="0"/>
                <a:cs typeface="Times New Roman" panose="02020603050405020304" pitchFamily="18" charset="0"/>
              </a:rPr>
              <a:t>FastAPI</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connect the backend with the SQL Server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retrieve and display data using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report preparation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data accuracy and consistency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full-stack application workflow</a:t>
            </a:r>
          </a:p>
          <a:p>
            <a:pPr mar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Develop multilingual speech-to-text translation system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3362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E831B-ED0C-D231-029C-73E0AA03C5B9}"/>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endParaRPr lang="en-US" sz="3200" dirty="0"/>
          </a:p>
        </p:txBody>
      </p:sp>
      <p:sp>
        <p:nvSpPr>
          <p:cNvPr id="4" name="Date Placeholder 3">
            <a:extLst>
              <a:ext uri="{FF2B5EF4-FFF2-40B4-BE49-F238E27FC236}">
                <a16:creationId xmlns:a16="http://schemas.microsoft.com/office/drawing/2014/main" id="{C0EE3E80-A7F1-1D60-1F4D-E4DFCD1878F7}"/>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F8AC3D34-9B39-5D48-9624-8B74DD9F0A2F}"/>
              </a:ext>
            </a:extLst>
          </p:cNvPr>
          <p:cNvSpPr>
            <a:spLocks noGrp="1"/>
          </p:cNvSpPr>
          <p:nvPr>
            <p:ph type="sldNum" sz="quarter" idx="12"/>
          </p:nvPr>
        </p:nvSpPr>
        <p:spPr/>
        <p:txBody>
          <a:bodyPr/>
          <a:lstStyle/>
          <a:p>
            <a:fld id="{F32F6845-8F47-4AB8-B9CE-96D88E741707}" type="slidenum">
              <a:rPr lang="en-IN" smtClean="0"/>
              <a:pPr/>
              <a:t>10</a:t>
            </a:fld>
            <a:endParaRPr lang="en-IN" dirty="0"/>
          </a:p>
        </p:txBody>
      </p:sp>
      <p:sp>
        <p:nvSpPr>
          <p:cNvPr id="6" name="Rectangle 1">
            <a:extLst>
              <a:ext uri="{FF2B5EF4-FFF2-40B4-BE49-F238E27FC236}">
                <a16:creationId xmlns:a16="http://schemas.microsoft.com/office/drawing/2014/main" id="{6D132877-3239-9434-5689-2C86554A5408}"/>
              </a:ext>
            </a:extLst>
          </p:cNvPr>
          <p:cNvSpPr>
            <a:spLocks noGrp="1" noChangeArrowheads="1"/>
          </p:cNvSpPr>
          <p:nvPr>
            <p:ph idx="1"/>
          </p:nvPr>
        </p:nvSpPr>
        <p:spPr bwMode="auto">
          <a:xfrm>
            <a:off x="838200" y="1345863"/>
            <a:ext cx="798487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factories still use basic or old software systems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Report generation usually takes more time.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is often stored in different places.</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duplication and errors are common.</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systems make access easier.</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Flask and React are popular for such applications.</a:t>
            </a:r>
          </a:p>
        </p:txBody>
      </p:sp>
    </p:spTree>
    <p:extLst>
      <p:ext uri="{BB962C8B-B14F-4D97-AF65-F5344CB8AC3E}">
        <p14:creationId xmlns:p14="http://schemas.microsoft.com/office/powerpoint/2010/main" val="188957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F5BC8-5393-BF3A-73E1-35DC6AB9A9C0}"/>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endParaRPr lang="en-US" sz="3200" dirty="0"/>
          </a:p>
        </p:txBody>
      </p:sp>
      <p:sp>
        <p:nvSpPr>
          <p:cNvPr id="4" name="Date Placeholder 3">
            <a:extLst>
              <a:ext uri="{FF2B5EF4-FFF2-40B4-BE49-F238E27FC236}">
                <a16:creationId xmlns:a16="http://schemas.microsoft.com/office/drawing/2014/main" id="{C44E417C-53EC-306B-5E53-FB4C7DADA023}"/>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DBB81560-39B1-4F4F-9665-443C55A7920E}"/>
              </a:ext>
            </a:extLst>
          </p:cNvPr>
          <p:cNvSpPr>
            <a:spLocks noGrp="1"/>
          </p:cNvSpPr>
          <p:nvPr>
            <p:ph type="sldNum" sz="quarter" idx="12"/>
          </p:nvPr>
        </p:nvSpPr>
        <p:spPr/>
        <p:txBody>
          <a:bodyPr/>
          <a:lstStyle/>
          <a:p>
            <a:fld id="{F32F6845-8F47-4AB8-B9CE-96D88E741707}" type="slidenum">
              <a:rPr lang="en-IN" smtClean="0"/>
              <a:pPr/>
              <a:t>11</a:t>
            </a:fld>
            <a:endParaRPr lang="en-IN" dirty="0"/>
          </a:p>
        </p:txBody>
      </p:sp>
      <p:sp>
        <p:nvSpPr>
          <p:cNvPr id="6" name="Rectangle 1">
            <a:extLst>
              <a:ext uri="{FF2B5EF4-FFF2-40B4-BE49-F238E27FC236}">
                <a16:creationId xmlns:a16="http://schemas.microsoft.com/office/drawing/2014/main" id="{F69B9FD6-3D2A-0CE2-27F7-DEAC2AB815B7}"/>
              </a:ext>
            </a:extLst>
          </p:cNvPr>
          <p:cNvSpPr>
            <a:spLocks noGrp="1" noChangeArrowheads="1"/>
          </p:cNvSpPr>
          <p:nvPr>
            <p:ph idx="1"/>
          </p:nvPr>
        </p:nvSpPr>
        <p:spPr bwMode="auto">
          <a:xfrm>
            <a:off x="838200" y="1226424"/>
            <a:ext cx="1220911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Web-based manufacturing management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SQL Server for data storage.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ReactJS for the user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APIs for data retrieval and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database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and structured report generation.</a:t>
            </a:r>
          </a:p>
          <a:p>
            <a:pPr marL="0" lv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Supports real-time multilingual speech translation (Telugu, Kannada, Hindi, Tamil)</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7691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CBC3A-1FCB-4CD1-8B8D-191EFFD17DE5}"/>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endParaRPr lang="en-US" sz="3200" dirty="0"/>
          </a:p>
        </p:txBody>
      </p:sp>
      <p:sp>
        <p:nvSpPr>
          <p:cNvPr id="3" name="Content Placeholder 2">
            <a:extLst>
              <a:ext uri="{FF2B5EF4-FFF2-40B4-BE49-F238E27FC236}">
                <a16:creationId xmlns:a16="http://schemas.microsoft.com/office/drawing/2014/main" id="{22DE9990-D0CA-4016-F132-A89D1F2BE1FA}"/>
              </a:ext>
            </a:extLst>
          </p:cNvPr>
          <p:cNvSpPr>
            <a:spLocks noGrp="1"/>
          </p:cNvSpPr>
          <p:nvPr>
            <p:ph idx="1"/>
          </p:nvPr>
        </p:nvSpPr>
        <p:spPr>
          <a:xfrm>
            <a:off x="838200" y="1253331"/>
            <a:ext cx="10515600" cy="4351338"/>
          </a:xfrm>
        </p:spPr>
        <p:txBody>
          <a:bodyPr/>
          <a:lstStyle/>
          <a:p>
            <a:pPr marL="0" lvl="0" indent="0" eaLnBrk="0" fontAlgn="base" hangingPunct="0">
              <a:lnSpc>
                <a:spcPct val="100000"/>
              </a:lnSpc>
              <a:spcBef>
                <a:spcPct val="0"/>
              </a:spcBef>
              <a:spcAft>
                <a:spcPct val="0"/>
              </a:spcAft>
              <a:buFontTx/>
              <a:buChar char="•"/>
            </a:pPr>
            <a:r>
              <a:rPr lang="en-US" dirty="0">
                <a:latin typeface="Times New Roman" panose="02020603050405020304" pitchFamily="18" charset="0"/>
                <a:cs typeface="Times New Roman" panose="02020603050405020304" pitchFamily="18" charset="0"/>
              </a:rPr>
              <a:t>To design and develop a Report Creating API for the RWF Manufacturing Management System to handle data efficiently and generate reports faster.</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 Existing systems are slow</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Reports take more time to generate</a:t>
            </a:r>
            <a:endParaRPr 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Data is not fully centralized</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Manual work causes errors</a:t>
            </a:r>
          </a:p>
          <a:p>
            <a:pPr marL="0" lvl="0" indent="0" eaLnBrk="0" fontAlgn="base" hangingPunct="0">
              <a:lnSpc>
                <a:spcPct val="100000"/>
              </a:lnSpc>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Need for web-based API system</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73447CF-3532-8966-F806-47B706CDA36D}"/>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C3FD20E1-E184-BF24-4039-6C6B95FA9A2C}"/>
              </a:ext>
            </a:extLst>
          </p:cNvPr>
          <p:cNvSpPr>
            <a:spLocks noGrp="1"/>
          </p:cNvSpPr>
          <p:nvPr>
            <p:ph type="sldNum" sz="quarter" idx="12"/>
          </p:nvPr>
        </p:nvSpPr>
        <p:spPr/>
        <p:txBody>
          <a:bodyPr/>
          <a:lstStyle/>
          <a:p>
            <a:fld id="{F32F6845-8F47-4AB8-B9CE-96D88E741707}" type="slidenum">
              <a:rPr lang="en-IN" smtClean="0"/>
              <a:pPr/>
              <a:t>12</a:t>
            </a:fld>
            <a:endParaRPr lang="en-IN" dirty="0"/>
          </a:p>
        </p:txBody>
      </p:sp>
      <p:sp>
        <p:nvSpPr>
          <p:cNvPr id="8" name="Rectangle 3">
            <a:extLst>
              <a:ext uri="{FF2B5EF4-FFF2-40B4-BE49-F238E27FC236}">
                <a16:creationId xmlns:a16="http://schemas.microsoft.com/office/drawing/2014/main" id="{72A06B9B-1095-9D21-FBD8-CC7D73FF5EE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879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97C4-CFC8-DA64-AA88-005FC2D41225}"/>
              </a:ext>
            </a:extLst>
          </p:cNvPr>
          <p:cNvSpPr>
            <a:spLocks noGrp="1"/>
          </p:cNvSpPr>
          <p:nvPr>
            <p:ph type="title"/>
          </p:nvPr>
        </p:nvSpPr>
        <p:spPr>
          <a:xfrm>
            <a:off x="838200" y="-178361"/>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endParaRPr lang="en-US" sz="3200" dirty="0"/>
          </a:p>
        </p:txBody>
      </p:sp>
      <p:sp>
        <p:nvSpPr>
          <p:cNvPr id="3" name="Content Placeholder 2">
            <a:extLst>
              <a:ext uri="{FF2B5EF4-FFF2-40B4-BE49-F238E27FC236}">
                <a16:creationId xmlns:a16="http://schemas.microsoft.com/office/drawing/2014/main" id="{F89C2BCC-D1FC-4812-4E72-E88F3C85B8C6}"/>
              </a:ext>
            </a:extLst>
          </p:cNvPr>
          <p:cNvSpPr>
            <a:spLocks noGrp="1"/>
          </p:cNvSpPr>
          <p:nvPr>
            <p:ph idx="1"/>
          </p:nvPr>
        </p:nvSpPr>
        <p:spPr>
          <a:xfrm>
            <a:off x="838200" y="762000"/>
            <a:ext cx="10515600" cy="5325035"/>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Hardware Requirements</a:t>
            </a:r>
          </a:p>
          <a:p>
            <a:r>
              <a:rPr lang="en-US" dirty="0">
                <a:latin typeface="Times New Roman" panose="02020603050405020304" pitchFamily="18" charset="0"/>
                <a:cs typeface="Times New Roman" panose="02020603050405020304" pitchFamily="18" charset="0"/>
              </a:rPr>
              <a:t>Computer / Laptop</a:t>
            </a:r>
          </a:p>
          <a:p>
            <a:r>
              <a:rPr lang="en-US" dirty="0">
                <a:latin typeface="Times New Roman" panose="02020603050405020304" pitchFamily="18" charset="0"/>
                <a:cs typeface="Times New Roman" panose="02020603050405020304" pitchFamily="18" charset="0"/>
              </a:rPr>
              <a:t>Processor: Intel i3 / i5 or above</a:t>
            </a:r>
          </a:p>
          <a:p>
            <a:r>
              <a:rPr lang="en-US" dirty="0">
                <a:latin typeface="Times New Roman" panose="02020603050405020304" pitchFamily="18" charset="0"/>
                <a:cs typeface="Times New Roman" panose="02020603050405020304" pitchFamily="18" charset="0"/>
              </a:rPr>
              <a:t>RAM: Minimum 8 GB</a:t>
            </a:r>
          </a:p>
          <a:p>
            <a:r>
              <a:rPr lang="en-US" dirty="0">
                <a:latin typeface="Times New Roman" panose="02020603050405020304" pitchFamily="18" charset="0"/>
                <a:cs typeface="Times New Roman" panose="02020603050405020304" pitchFamily="18" charset="0"/>
              </a:rPr>
              <a:t>Storage: At least 50 GB free space</a:t>
            </a:r>
          </a:p>
          <a:p>
            <a:r>
              <a:rPr lang="en-US" dirty="0">
                <a:latin typeface="Times New Roman" panose="02020603050405020304" pitchFamily="18" charset="0"/>
                <a:cs typeface="Times New Roman" panose="02020603050405020304" pitchFamily="18" charset="0"/>
              </a:rPr>
              <a:t>Internet connection</a:t>
            </a:r>
          </a:p>
          <a:p>
            <a:r>
              <a:rPr lang="en-US" b="1" dirty="0">
                <a:latin typeface="Times New Roman" panose="02020603050405020304" pitchFamily="18" charset="0"/>
                <a:cs typeface="Times New Roman" panose="02020603050405020304" pitchFamily="18" charset="0"/>
              </a:rPr>
              <a:t>Software Requirements</a:t>
            </a:r>
          </a:p>
          <a:p>
            <a:r>
              <a:rPr lang="en-US" dirty="0">
                <a:latin typeface="Times New Roman" panose="02020603050405020304" pitchFamily="18" charset="0"/>
                <a:cs typeface="Times New Roman" panose="02020603050405020304" pitchFamily="18" charset="0"/>
              </a:rPr>
              <a:t>Operating System: Windows</a:t>
            </a:r>
          </a:p>
          <a:p>
            <a:r>
              <a:rPr lang="en-US" dirty="0">
                <a:latin typeface="Times New Roman" panose="02020603050405020304" pitchFamily="18" charset="0"/>
                <a:cs typeface="Times New Roman" panose="02020603050405020304" pitchFamily="18" charset="0"/>
              </a:rPr>
              <a:t>Backend: Python, Flask</a:t>
            </a:r>
          </a:p>
          <a:p>
            <a:r>
              <a:rPr lang="en-US" dirty="0">
                <a:latin typeface="Times New Roman" panose="02020603050405020304" pitchFamily="18" charset="0"/>
                <a:cs typeface="Times New Roman" panose="02020603050405020304" pitchFamily="18" charset="0"/>
              </a:rPr>
              <a:t>Database: SQL Server</a:t>
            </a:r>
          </a:p>
          <a:p>
            <a:r>
              <a:rPr lang="en-US" dirty="0">
                <a:latin typeface="Times New Roman" panose="02020603050405020304" pitchFamily="18" charset="0"/>
                <a:cs typeface="Times New Roman" panose="02020603050405020304" pitchFamily="18" charset="0"/>
              </a:rPr>
              <a:t>Frontend: ReactJS</a:t>
            </a:r>
          </a:p>
          <a:p>
            <a:r>
              <a:rPr lang="en-US" dirty="0">
                <a:latin typeface="Times New Roman" panose="02020603050405020304" pitchFamily="18" charset="0"/>
                <a:cs typeface="Times New Roman" panose="02020603050405020304" pitchFamily="18" charset="0"/>
              </a:rPr>
              <a:t>Tools: VS Code, Postman</a:t>
            </a:r>
          </a:p>
          <a:p>
            <a:r>
              <a:rPr lang="en-US" dirty="0">
                <a:latin typeface="Times New Roman" panose="02020603050405020304" pitchFamily="18" charset="0"/>
                <a:cs typeface="Times New Roman" panose="02020603050405020304" pitchFamily="18" charset="0"/>
              </a:rPr>
              <a:t>Browser: Chrome / Edge</a:t>
            </a:r>
          </a:p>
        </p:txBody>
      </p:sp>
      <p:sp>
        <p:nvSpPr>
          <p:cNvPr id="4" name="Date Placeholder 3">
            <a:extLst>
              <a:ext uri="{FF2B5EF4-FFF2-40B4-BE49-F238E27FC236}">
                <a16:creationId xmlns:a16="http://schemas.microsoft.com/office/drawing/2014/main" id="{85612C92-94C9-A22C-3780-125E0472163F}"/>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7355CE46-D8BB-70DD-026F-2C348C3DDEA1}"/>
              </a:ext>
            </a:extLst>
          </p:cNvPr>
          <p:cNvSpPr>
            <a:spLocks noGrp="1"/>
          </p:cNvSpPr>
          <p:nvPr>
            <p:ph type="sldNum" sz="quarter" idx="12"/>
          </p:nvPr>
        </p:nvSpPr>
        <p:spPr/>
        <p:txBody>
          <a:bodyPr/>
          <a:lstStyle/>
          <a:p>
            <a:fld id="{F32F6845-8F47-4AB8-B9CE-96D88E741707}" type="slidenum">
              <a:rPr lang="en-IN" smtClean="0"/>
              <a:pPr/>
              <a:t>13</a:t>
            </a:fld>
            <a:endParaRPr lang="en-IN" dirty="0"/>
          </a:p>
        </p:txBody>
      </p:sp>
    </p:spTree>
    <p:extLst>
      <p:ext uri="{BB962C8B-B14F-4D97-AF65-F5344CB8AC3E}">
        <p14:creationId xmlns:p14="http://schemas.microsoft.com/office/powerpoint/2010/main" val="1998632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3816-982D-0044-14D7-6FB61DBAE0F2}"/>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endParaRPr lang="en-US" sz="3200" dirty="0"/>
          </a:p>
        </p:txBody>
      </p:sp>
      <p:sp>
        <p:nvSpPr>
          <p:cNvPr id="3" name="Content Placeholder 2">
            <a:extLst>
              <a:ext uri="{FF2B5EF4-FFF2-40B4-BE49-F238E27FC236}">
                <a16:creationId xmlns:a16="http://schemas.microsoft.com/office/drawing/2014/main" id="{22EF0B07-DA78-8B85-D1E5-0F36EA220AFE}"/>
              </a:ext>
            </a:extLst>
          </p:cNvPr>
          <p:cNvSpPr>
            <a:spLocks noGrp="1"/>
          </p:cNvSpPr>
          <p:nvPr>
            <p:ph idx="1"/>
          </p:nvPr>
        </p:nvSpPr>
        <p:spPr>
          <a:xfrm>
            <a:off x="838200" y="1458073"/>
            <a:ext cx="10515600" cy="4351338"/>
          </a:xfrm>
        </p:spPr>
        <p:txBody>
          <a:bodyPr/>
          <a:lstStyle/>
          <a:p>
            <a:r>
              <a:rPr lang="en-US" dirty="0">
                <a:latin typeface="Times New Roman" panose="02020603050405020304" pitchFamily="18" charset="0"/>
                <a:cs typeface="Times New Roman" panose="02020603050405020304" pitchFamily="18" charset="0"/>
              </a:rPr>
              <a:t>Faster report generation</a:t>
            </a:r>
          </a:p>
          <a:p>
            <a:r>
              <a:rPr lang="en-US" dirty="0">
                <a:latin typeface="Times New Roman" panose="02020603050405020304" pitchFamily="18" charset="0"/>
                <a:cs typeface="Times New Roman" panose="02020603050405020304" pitchFamily="18" charset="0"/>
              </a:rPr>
              <a:t>Reduces manual work</a:t>
            </a:r>
          </a:p>
          <a:p>
            <a:r>
              <a:rPr lang="en-US" dirty="0">
                <a:latin typeface="Times New Roman" panose="02020603050405020304" pitchFamily="18" charset="0"/>
                <a:cs typeface="Times New Roman" panose="02020603050405020304" pitchFamily="18" charset="0"/>
              </a:rPr>
              <a:t>Better data accuracy</a:t>
            </a:r>
          </a:p>
          <a:p>
            <a:r>
              <a:rPr lang="en-US" dirty="0">
                <a:latin typeface="Times New Roman" panose="02020603050405020304" pitchFamily="18" charset="0"/>
                <a:cs typeface="Times New Roman" panose="02020603050405020304" pitchFamily="18" charset="0"/>
              </a:rPr>
              <a:t>Centralized data system</a:t>
            </a:r>
          </a:p>
          <a:p>
            <a:r>
              <a:rPr lang="en-US" dirty="0">
                <a:latin typeface="Times New Roman" panose="02020603050405020304" pitchFamily="18" charset="0"/>
                <a:cs typeface="Times New Roman" panose="02020603050405020304" pitchFamily="18" charset="0"/>
              </a:rPr>
              <a:t>Easy to maintain and update</a:t>
            </a:r>
          </a:p>
          <a:p>
            <a:r>
              <a:rPr lang="en-US" dirty="0">
                <a:latin typeface="Times New Roman" panose="02020603050405020304" pitchFamily="18" charset="0"/>
                <a:cs typeface="Times New Roman" panose="02020603050405020304" pitchFamily="18" charset="0"/>
              </a:rPr>
              <a:t>Scalable for future features</a:t>
            </a:r>
          </a:p>
          <a:p>
            <a:r>
              <a:rPr lang="en-US" dirty="0">
                <a:latin typeface="Times New Roman" panose="02020603050405020304" pitchFamily="18" charset="0"/>
                <a:cs typeface="Times New Roman" panose="02020603050405020304" pitchFamily="18" charset="0"/>
              </a:rPr>
              <a:t>Overall work becomes faster and smoother.</a:t>
            </a:r>
          </a:p>
        </p:txBody>
      </p:sp>
      <p:sp>
        <p:nvSpPr>
          <p:cNvPr id="4" name="Date Placeholder 3">
            <a:extLst>
              <a:ext uri="{FF2B5EF4-FFF2-40B4-BE49-F238E27FC236}">
                <a16:creationId xmlns:a16="http://schemas.microsoft.com/office/drawing/2014/main" id="{054E21A4-DECC-0687-8A1B-12442A1513CB}"/>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F919FA89-A0E7-1BF1-DF2F-8D60E50A437A}"/>
              </a:ext>
            </a:extLst>
          </p:cNvPr>
          <p:cNvSpPr>
            <a:spLocks noGrp="1"/>
          </p:cNvSpPr>
          <p:nvPr>
            <p:ph type="sldNum" sz="quarter" idx="12"/>
          </p:nvPr>
        </p:nvSpPr>
        <p:spPr/>
        <p:txBody>
          <a:bodyPr/>
          <a:lstStyle/>
          <a:p>
            <a:fld id="{F32F6845-8F47-4AB8-B9CE-96D88E741707}" type="slidenum">
              <a:rPr lang="en-IN" smtClean="0"/>
              <a:pPr/>
              <a:t>14</a:t>
            </a:fld>
            <a:endParaRPr lang="en-IN" dirty="0"/>
          </a:p>
        </p:txBody>
      </p:sp>
    </p:spTree>
    <p:extLst>
      <p:ext uri="{BB962C8B-B14F-4D97-AF65-F5344CB8AC3E}">
        <p14:creationId xmlns:p14="http://schemas.microsoft.com/office/powerpoint/2010/main" val="220111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524C8-9416-E296-5D8A-DDC83E8965FE}"/>
              </a:ext>
            </a:extLst>
          </p:cNvPr>
          <p:cNvSpPr>
            <a:spLocks noGrp="1"/>
          </p:cNvSpPr>
          <p:nvPr>
            <p:ph type="title"/>
          </p:nvPr>
        </p:nvSpPr>
        <p:spPr>
          <a:xfrm>
            <a:off x="838200" y="185826"/>
            <a:ext cx="10515600" cy="683746"/>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	</a:t>
            </a:r>
            <a:endParaRPr lang="en-US" sz="3200" dirty="0"/>
          </a:p>
        </p:txBody>
      </p:sp>
      <p:sp>
        <p:nvSpPr>
          <p:cNvPr id="3" name="Content Placeholder 2">
            <a:extLst>
              <a:ext uri="{FF2B5EF4-FFF2-40B4-BE49-F238E27FC236}">
                <a16:creationId xmlns:a16="http://schemas.microsoft.com/office/drawing/2014/main" id="{A37F805E-4D04-B1EB-28F5-0D1B8324B8F1}"/>
              </a:ext>
            </a:extLst>
          </p:cNvPr>
          <p:cNvSpPr>
            <a:spLocks noGrp="1"/>
          </p:cNvSpPr>
          <p:nvPr>
            <p:ph idx="1"/>
          </p:nvPr>
        </p:nvSpPr>
        <p:spPr>
          <a:xfrm>
            <a:off x="838200" y="944660"/>
            <a:ext cx="10515600" cy="4351338"/>
          </a:xfrm>
        </p:spPr>
        <p:txBody>
          <a:bodyPr>
            <a:normAutofit/>
          </a:bodyPr>
          <a:lstStyle/>
          <a:p>
            <a:r>
              <a:rPr lang="en-IN" dirty="0">
                <a:latin typeface="Times New Roman" panose="02020603050405020304" pitchFamily="18" charset="0"/>
                <a:cs typeface="Times New Roman" panose="02020603050405020304" pitchFamily="18" charset="0"/>
              </a:rPr>
              <a:t>The system follows a three-layer architecture: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React Frontend → </a:t>
            </a:r>
            <a:r>
              <a:rPr lang="en-IN" dirty="0" err="1">
                <a:latin typeface="Times New Roman" panose="02020603050405020304" pitchFamily="18" charset="0"/>
                <a:cs typeface="Times New Roman" panose="02020603050405020304" pitchFamily="18" charset="0"/>
              </a:rPr>
              <a:t>FastAPI</a:t>
            </a:r>
            <a:r>
              <a:rPr lang="en-IN" dirty="0">
                <a:latin typeface="Times New Roman" panose="02020603050405020304" pitchFamily="18" charset="0"/>
                <a:cs typeface="Times New Roman" panose="02020603050405020304" pitchFamily="18" charset="0"/>
              </a:rPr>
              <a:t> Backend (Async) → SQL Server</a:t>
            </a:r>
          </a:p>
          <a:p>
            <a:r>
              <a:rPr lang="en-IN" dirty="0">
                <a:latin typeface="Times New Roman" panose="02020603050405020304" pitchFamily="18" charset="0"/>
                <a:cs typeface="Times New Roman" panose="02020603050405020304" pitchFamily="18" charset="0"/>
              </a:rPr>
              <a:t>APIs were converted from synchronous to asynchronous using async/await for non-blocking execution.</a:t>
            </a:r>
          </a:p>
          <a:p>
            <a:r>
              <a:rPr lang="en-IN" dirty="0">
                <a:latin typeface="Times New Roman" panose="02020603050405020304" pitchFamily="18" charset="0"/>
                <a:cs typeface="Times New Roman" panose="02020603050405020304" pitchFamily="18" charset="0"/>
              </a:rPr>
              <a:t>PDF reports are converted into HTML for structured data extraction.</a:t>
            </a:r>
          </a:p>
          <a:p>
            <a:r>
              <a:rPr lang="en-IN" dirty="0">
                <a:latin typeface="Times New Roman" panose="02020603050405020304" pitchFamily="18" charset="0"/>
                <a:cs typeface="Times New Roman" panose="02020603050405020304" pitchFamily="18" charset="0"/>
              </a:rPr>
              <a:t>Additionally, a multilingual speech translation module is integrated.</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A6E2977-11F1-940E-5F19-BC096A5ED24F}"/>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47AE96A5-B021-C964-68AC-A8CFEC5CA65C}"/>
              </a:ext>
            </a:extLst>
          </p:cNvPr>
          <p:cNvSpPr>
            <a:spLocks noGrp="1"/>
          </p:cNvSpPr>
          <p:nvPr>
            <p:ph type="sldNum" sz="quarter" idx="12"/>
          </p:nvPr>
        </p:nvSpPr>
        <p:spPr/>
        <p:txBody>
          <a:bodyPr/>
          <a:lstStyle/>
          <a:p>
            <a:fld id="{F32F6845-8F47-4AB8-B9CE-96D88E741707}" type="slidenum">
              <a:rPr lang="en-IN" smtClean="0"/>
              <a:pPr/>
              <a:t>15</a:t>
            </a:fld>
            <a:endParaRPr lang="en-IN" dirty="0"/>
          </a:p>
        </p:txBody>
      </p:sp>
    </p:spTree>
    <p:extLst>
      <p:ext uri="{BB962C8B-B14F-4D97-AF65-F5344CB8AC3E}">
        <p14:creationId xmlns:p14="http://schemas.microsoft.com/office/powerpoint/2010/main" val="2018328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25920-61DD-04CD-681D-2A05BDF93509}"/>
              </a:ext>
            </a:extLst>
          </p:cNvPr>
          <p:cNvSpPr>
            <a:spLocks noGrp="1"/>
          </p:cNvSpPr>
          <p:nvPr>
            <p:ph type="title"/>
          </p:nvPr>
        </p:nvSpPr>
        <p:spPr>
          <a:xfrm>
            <a:off x="838200" y="365126"/>
            <a:ext cx="10515600" cy="737534"/>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Workflow Diagram</a:t>
            </a:r>
            <a:endParaRPr lang="en-US" sz="3200" dirty="0"/>
          </a:p>
        </p:txBody>
      </p:sp>
      <p:sp>
        <p:nvSpPr>
          <p:cNvPr id="3" name="Content Placeholder 2">
            <a:extLst>
              <a:ext uri="{FF2B5EF4-FFF2-40B4-BE49-F238E27FC236}">
                <a16:creationId xmlns:a16="http://schemas.microsoft.com/office/drawing/2014/main" id="{A9E36954-260E-6C1D-0BD6-14E0F079EB51}"/>
              </a:ext>
            </a:extLst>
          </p:cNvPr>
          <p:cNvSpPr>
            <a:spLocks noGrp="1"/>
          </p:cNvSpPr>
          <p:nvPr>
            <p:ph idx="1"/>
          </p:nvPr>
        </p:nvSpPr>
        <p:spPr>
          <a:xfrm>
            <a:off x="838200" y="995084"/>
            <a:ext cx="10515600" cy="5047128"/>
          </a:xfrm>
        </p:spPr>
        <p:txBody>
          <a:bodyPr>
            <a:normAutofit fontScale="85000" lnSpcReduction="20000"/>
          </a:bodyPr>
          <a:lstStyle/>
          <a:p>
            <a:pPr marL="0" indent="0" algn="ctr">
              <a:buNone/>
            </a:pPr>
            <a:r>
              <a:rPr lang="en-US" b="1" dirty="0">
                <a:latin typeface="Times New Roman" panose="02020603050405020304" pitchFamily="18" charset="0"/>
                <a:cs typeface="Times New Roman" panose="02020603050405020304" pitchFamily="18" charset="0"/>
              </a:rPr>
              <a:t>PDF Report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PDF → HTML Conversion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Data Extraction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Flask API Processing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Database Storage / Retrieval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API Response to Frontend  </a:t>
            </a:r>
          </a:p>
          <a:p>
            <a:pPr marL="0" indent="0" algn="ctr">
              <a:buNone/>
            </a:pPr>
            <a:r>
              <a:rPr lang="en-US" b="1" dirty="0">
                <a:latin typeface="Times New Roman" panose="02020603050405020304" pitchFamily="18" charset="0"/>
                <a:cs typeface="Times New Roman" panose="02020603050405020304" pitchFamily="18" charset="0"/>
              </a:rPr>
              <a:t>↓  </a:t>
            </a:r>
          </a:p>
          <a:p>
            <a:pPr marL="0" indent="0" algn="ctr">
              <a:buNone/>
            </a:pPr>
            <a:r>
              <a:rPr lang="en-US" b="1" dirty="0">
                <a:latin typeface="Times New Roman" panose="02020603050405020304" pitchFamily="18" charset="0"/>
                <a:cs typeface="Times New Roman" panose="02020603050405020304" pitchFamily="18" charset="0"/>
              </a:rPr>
              <a:t>React UI Rendering (Async Fetch)</a:t>
            </a:r>
          </a:p>
        </p:txBody>
      </p:sp>
      <p:sp>
        <p:nvSpPr>
          <p:cNvPr id="4" name="Date Placeholder 3">
            <a:extLst>
              <a:ext uri="{FF2B5EF4-FFF2-40B4-BE49-F238E27FC236}">
                <a16:creationId xmlns:a16="http://schemas.microsoft.com/office/drawing/2014/main" id="{731DCA35-E5BD-6E34-041E-D30D99A620E8}"/>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16F153F-1AE3-A541-68DD-427064427288}"/>
              </a:ext>
            </a:extLst>
          </p:cNvPr>
          <p:cNvSpPr>
            <a:spLocks noGrp="1"/>
          </p:cNvSpPr>
          <p:nvPr>
            <p:ph type="sldNum" sz="quarter" idx="12"/>
          </p:nvPr>
        </p:nvSpPr>
        <p:spPr/>
        <p:txBody>
          <a:bodyPr/>
          <a:lstStyle/>
          <a:p>
            <a:fld id="{F32F6845-8F47-4AB8-B9CE-96D88E741707}" type="slidenum">
              <a:rPr lang="en-IN" smtClean="0"/>
              <a:pPr/>
              <a:t>16</a:t>
            </a:fld>
            <a:endParaRPr lang="en-IN" dirty="0"/>
          </a:p>
        </p:txBody>
      </p:sp>
    </p:spTree>
    <p:extLst>
      <p:ext uri="{BB962C8B-B14F-4D97-AF65-F5344CB8AC3E}">
        <p14:creationId xmlns:p14="http://schemas.microsoft.com/office/powerpoint/2010/main" val="1816478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22486-A5A9-D908-B135-47EFB0F2D899}"/>
              </a:ext>
            </a:extLst>
          </p:cNvPr>
          <p:cNvSpPr>
            <a:spLocks noGrp="1"/>
          </p:cNvSpPr>
          <p:nvPr>
            <p:ph type="title"/>
          </p:nvPr>
        </p:nvSpPr>
        <p:spPr>
          <a:xfrm>
            <a:off x="775447" y="136525"/>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a:r>
            <a:endParaRPr lang="en-US" sz="3200" dirty="0"/>
          </a:p>
        </p:txBody>
      </p:sp>
      <p:sp>
        <p:nvSpPr>
          <p:cNvPr id="4" name="Date Placeholder 3">
            <a:extLst>
              <a:ext uri="{FF2B5EF4-FFF2-40B4-BE49-F238E27FC236}">
                <a16:creationId xmlns:a16="http://schemas.microsoft.com/office/drawing/2014/main" id="{FE1930E7-9DA2-50ED-CC3A-04AB201D417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58763D0E-F551-F8E9-E03B-F5357111543C}"/>
              </a:ext>
            </a:extLst>
          </p:cNvPr>
          <p:cNvSpPr>
            <a:spLocks noGrp="1"/>
          </p:cNvSpPr>
          <p:nvPr>
            <p:ph type="sldNum" sz="quarter" idx="12"/>
          </p:nvPr>
        </p:nvSpPr>
        <p:spPr/>
        <p:txBody>
          <a:bodyPr/>
          <a:lstStyle/>
          <a:p>
            <a:fld id="{F32F6845-8F47-4AB8-B9CE-96D88E741707}" type="slidenum">
              <a:rPr lang="en-IN" smtClean="0"/>
              <a:pPr/>
              <a:t>17</a:t>
            </a:fld>
            <a:endParaRPr lang="en-IN" dirty="0"/>
          </a:p>
        </p:txBody>
      </p:sp>
      <p:sp>
        <p:nvSpPr>
          <p:cNvPr id="6" name="Rectangle 2">
            <a:extLst>
              <a:ext uri="{FF2B5EF4-FFF2-40B4-BE49-F238E27FC236}">
                <a16:creationId xmlns:a16="http://schemas.microsoft.com/office/drawing/2014/main" id="{2872D02C-F774-9871-5959-9D2CDEB33DA7}"/>
              </a:ext>
            </a:extLst>
          </p:cNvPr>
          <p:cNvSpPr>
            <a:spLocks noGrp="1" noChangeArrowheads="1"/>
          </p:cNvSpPr>
          <p:nvPr>
            <p:ph idx="1"/>
          </p:nvPr>
        </p:nvSpPr>
        <p:spPr bwMode="auto">
          <a:xfrm>
            <a:off x="775447" y="694593"/>
            <a:ext cx="9892901"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REST APIs using </a:t>
            </a:r>
            <a:r>
              <a:rPr kumimoji="0" lang="en-US" altLang="en-US"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connected with SQL Server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Converted APIs to asynchronous (async/await)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Processed PDF reports → HTML → structured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React frontend with async data fetching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full-stack integration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multilingual speech translation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Tested APIs using Postman </a:t>
            </a:r>
          </a:p>
        </p:txBody>
      </p:sp>
    </p:spTree>
    <p:extLst>
      <p:ext uri="{BB962C8B-B14F-4D97-AF65-F5344CB8AC3E}">
        <p14:creationId xmlns:p14="http://schemas.microsoft.com/office/powerpoint/2010/main" val="1494968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F58F-E936-A7CC-426C-F24F91EDE265}"/>
              </a:ext>
            </a:extLst>
          </p:cNvPr>
          <p:cNvSpPr>
            <a:spLocks noGrp="1"/>
          </p:cNvSpPr>
          <p:nvPr>
            <p:ph type="title"/>
          </p:nvPr>
        </p:nvSpPr>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Testing</a:t>
            </a:r>
            <a:endParaRPr lang="en-US" sz="3200" dirty="0"/>
          </a:p>
        </p:txBody>
      </p:sp>
      <p:sp>
        <p:nvSpPr>
          <p:cNvPr id="3" name="Content Placeholder 2">
            <a:extLst>
              <a:ext uri="{FF2B5EF4-FFF2-40B4-BE49-F238E27FC236}">
                <a16:creationId xmlns:a16="http://schemas.microsoft.com/office/drawing/2014/main" id="{A3E3C9B7-F85F-D1FD-AB1B-AD57A760299B}"/>
              </a:ext>
            </a:extLst>
          </p:cNvPr>
          <p:cNvSpPr>
            <a:spLocks noGrp="1"/>
          </p:cNvSpPr>
          <p:nvPr>
            <p:ph idx="1"/>
          </p:nvPr>
        </p:nvSpPr>
        <p:spPr>
          <a:xfrm>
            <a:off x="838200" y="1332566"/>
            <a:ext cx="10515600" cy="4351338"/>
          </a:xfrm>
        </p:spPr>
        <p:txBody>
          <a:bodyPr/>
          <a:lstStyle/>
          <a:p>
            <a:r>
              <a:rPr lang="en-US" dirty="0">
                <a:latin typeface="Times New Roman" panose="02020603050405020304" pitchFamily="18" charset="0"/>
                <a:cs typeface="Times New Roman" panose="02020603050405020304" pitchFamily="18" charset="0"/>
              </a:rPr>
              <a:t>Tested APIs using Postman </a:t>
            </a:r>
          </a:p>
          <a:p>
            <a:r>
              <a:rPr lang="en-US" dirty="0">
                <a:latin typeface="Times New Roman" panose="02020603050405020304" pitchFamily="18" charset="0"/>
                <a:cs typeface="Times New Roman" panose="02020603050405020304" pitchFamily="18" charset="0"/>
              </a:rPr>
              <a:t>Checked GET requests</a:t>
            </a:r>
          </a:p>
          <a:p>
            <a:r>
              <a:rPr lang="en-US" dirty="0">
                <a:latin typeface="Times New Roman" panose="02020603050405020304" pitchFamily="18" charset="0"/>
                <a:cs typeface="Times New Roman" panose="02020603050405020304" pitchFamily="18" charset="0"/>
              </a:rPr>
              <a:t>Made sure correct data is coming from database </a:t>
            </a:r>
          </a:p>
          <a:p>
            <a:r>
              <a:rPr lang="en-US" dirty="0">
                <a:latin typeface="Times New Roman" panose="02020603050405020304" pitchFamily="18" charset="0"/>
                <a:cs typeface="Times New Roman" panose="02020603050405020304" pitchFamily="18" charset="0"/>
              </a:rPr>
              <a:t>Checked errors and fixed issues </a:t>
            </a:r>
          </a:p>
          <a:p>
            <a:r>
              <a:rPr lang="en-US" dirty="0">
                <a:latin typeface="Times New Roman" panose="02020603050405020304" pitchFamily="18" charset="0"/>
                <a:cs typeface="Times New Roman" panose="02020603050405020304" pitchFamily="18" charset="0"/>
              </a:rPr>
              <a:t>Tested with large data to see performance </a:t>
            </a:r>
          </a:p>
          <a:p>
            <a:r>
              <a:rPr lang="en-US" dirty="0">
                <a:latin typeface="Times New Roman" panose="02020603050405020304" pitchFamily="18" charset="0"/>
                <a:cs typeface="Times New Roman" panose="02020603050405020304" pitchFamily="18" charset="0"/>
              </a:rPr>
              <a:t>Made sure frontend gets proper responses </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0D3AC3F-50AC-DC00-F8B7-0EAD37665CC6}"/>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905DBF76-D775-B912-AE71-0C2DEE43589F}"/>
              </a:ext>
            </a:extLst>
          </p:cNvPr>
          <p:cNvSpPr>
            <a:spLocks noGrp="1"/>
          </p:cNvSpPr>
          <p:nvPr>
            <p:ph type="sldNum" sz="quarter" idx="12"/>
          </p:nvPr>
        </p:nvSpPr>
        <p:spPr/>
        <p:txBody>
          <a:bodyPr/>
          <a:lstStyle/>
          <a:p>
            <a:fld id="{F32F6845-8F47-4AB8-B9CE-96D88E741707}" type="slidenum">
              <a:rPr lang="en-IN" smtClean="0"/>
              <a:pPr/>
              <a:t>18</a:t>
            </a:fld>
            <a:endParaRPr lang="en-IN" dirty="0"/>
          </a:p>
        </p:txBody>
      </p:sp>
    </p:spTree>
    <p:extLst>
      <p:ext uri="{BB962C8B-B14F-4D97-AF65-F5344CB8AC3E}">
        <p14:creationId xmlns:p14="http://schemas.microsoft.com/office/powerpoint/2010/main" val="3506145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6B4CB-890C-16DA-D8DE-3F8ECCAC29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68A664-3460-E82E-730D-99833F3E0C1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64803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14F95-918C-F762-8A42-E75814E5C4E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B861E2-71FB-A26E-A345-8CD5EF2FE23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92389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D17D0-1A28-FB18-7394-BDF75272527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21E108-D8C0-5B62-3B91-D74B0DA532A1}"/>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885879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17CD8-85B9-2C76-CFF0-885AA702CD7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928E9A8-4A3C-639E-E46C-D70C72C23F6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08730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D348C-7F56-3247-AA73-BDBB554331B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A89D5E6-029B-FF35-752D-7A74EB6FFCB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53598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CAC9D-F2DE-F12D-2B07-331DE59EA6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052AA9B-3B85-E10C-6207-2C76F4F709A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75765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8B1BB-A74F-9CEF-F72C-D8B0A31151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4B7B6B-D0E7-51E7-73E6-5B5BDD31E83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78527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CFAE1-F3B2-E215-072D-5BD7387B5D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AA473FC-24AD-69BF-B120-9F4DCE56BF4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57468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39D32-2E75-263B-E5CD-5DCFF99FFEE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C04C01-B174-A484-AC01-0B16D2448590}"/>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20320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A48A4-4968-EDA3-2F2A-D2B296F401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118667E-101C-309D-E269-399DC4DF456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484330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8E229-8D3A-2690-136B-F67F2D98755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BFFDB1-7EB2-9585-7C35-D2CD213CAA5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612662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3AFCE-E431-FA35-376A-9018C43B23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4C5742E-0DA8-2BB2-6CE6-86333AD7084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95653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1D3F0-76E2-51B8-41A3-14DB9F76F2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8702982-950F-DFCA-5BDD-9B4AD147D1FC}"/>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560460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61357-3989-7C02-B1CB-BC479959ACAB}"/>
              </a:ext>
            </a:extLst>
          </p:cNvPr>
          <p:cNvSpPr>
            <a:spLocks noGrp="1"/>
          </p:cNvSpPr>
          <p:nvPr>
            <p:ph type="title"/>
          </p:nvPr>
        </p:nvSpPr>
        <p:spPr>
          <a:xfrm>
            <a:off x="838200" y="681037"/>
            <a:ext cx="10515600" cy="1325563"/>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MINI PROJECT – MULTILINGUAL TRANSLATION”</a:t>
            </a:r>
            <a:endParaRPr lang="en-IN" sz="32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2B04D1B-4F5E-121B-615F-5A546C2EE15A}"/>
              </a:ext>
            </a:extLst>
          </p:cNvPr>
          <p:cNvSpPr>
            <a:spLocks noGrp="1"/>
          </p:cNvSpPr>
          <p:nvPr>
            <p:ph idx="1"/>
          </p:nvPr>
        </p:nvSpPr>
        <p:spPr/>
        <p:txBody>
          <a:bodyPr/>
          <a:lstStyle/>
          <a:p>
            <a:pPr marL="0" indent="0">
              <a:buNone/>
            </a:pPr>
            <a:r>
              <a:rPr lang="en-IN" dirty="0">
                <a:latin typeface="Times New Roman" panose="02020603050405020304" pitchFamily="18" charset="0"/>
                <a:cs typeface="Times New Roman" panose="02020603050405020304" pitchFamily="18" charset="0"/>
              </a:rPr>
              <a:t>Content:</a:t>
            </a:r>
          </a:p>
          <a:p>
            <a:r>
              <a:rPr lang="en-IN" dirty="0">
                <a:latin typeface="Times New Roman" panose="02020603050405020304" pitchFamily="18" charset="0"/>
                <a:cs typeface="Times New Roman" panose="02020603050405020304" pitchFamily="18" charset="0"/>
              </a:rPr>
              <a:t>Real-time speech-to-text system </a:t>
            </a:r>
          </a:p>
          <a:p>
            <a:r>
              <a:rPr lang="en-IN" dirty="0">
                <a:latin typeface="Times New Roman" panose="02020603050405020304" pitchFamily="18" charset="0"/>
                <a:cs typeface="Times New Roman" panose="02020603050405020304" pitchFamily="18" charset="0"/>
              </a:rPr>
              <a:t>Supports Telugu, Kannada, Hindi, Tamil </a:t>
            </a:r>
          </a:p>
          <a:p>
            <a:r>
              <a:rPr lang="en-IN" dirty="0">
                <a:latin typeface="Times New Roman" panose="02020603050405020304" pitchFamily="18" charset="0"/>
                <a:cs typeface="Times New Roman" panose="02020603050405020304" pitchFamily="18" charset="0"/>
              </a:rPr>
              <a:t>Uses ASR + translation models </a:t>
            </a:r>
          </a:p>
          <a:p>
            <a:r>
              <a:rPr lang="en-IN" dirty="0">
                <a:latin typeface="Times New Roman" panose="02020603050405020304" pitchFamily="18" charset="0"/>
                <a:cs typeface="Times New Roman" panose="02020603050405020304" pitchFamily="18" charset="0"/>
              </a:rPr>
              <a:t>Converts speech → English text </a:t>
            </a:r>
          </a:p>
          <a:p>
            <a:r>
              <a:rPr lang="en-IN" dirty="0">
                <a:latin typeface="Times New Roman" panose="02020603050405020304" pitchFamily="18" charset="0"/>
                <a:cs typeface="Times New Roman" panose="02020603050405020304" pitchFamily="18" charset="0"/>
              </a:rPr>
              <a:t>Displays output on frontend</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48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06B8A-66F5-19E8-CD89-2167A79706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0BB612-A54B-ECE1-9932-99E021D615DE}"/>
              </a:ext>
            </a:extLst>
          </p:cNvPr>
          <p:cNvSpPr>
            <a:spLocks noGrp="1"/>
          </p:cNvSpPr>
          <p:nvPr>
            <p:ph idx="1"/>
          </p:nvPr>
        </p:nvSpPr>
        <p:spPr/>
        <p:txBody>
          <a:bodyPr>
            <a:normAutofit fontScale="85000" lnSpcReduction="20000"/>
          </a:bodyPr>
          <a:lstStyle/>
          <a:p>
            <a:pPr marL="0" indent="0" algn="ctr">
              <a:buNone/>
            </a:pPr>
            <a:r>
              <a:rPr lang="en-IN" dirty="0">
                <a:latin typeface="Times New Roman" panose="02020603050405020304" pitchFamily="18" charset="0"/>
                <a:cs typeface="Times New Roman" panose="02020603050405020304" pitchFamily="18" charset="0"/>
              </a:rPr>
              <a:t>Audio Input  </a:t>
            </a:r>
          </a:p>
          <a:p>
            <a:pPr marL="0" indent="0" algn="ctr">
              <a:buNone/>
            </a:pPr>
            <a:r>
              <a:rPr lang="en-IN" dirty="0">
                <a:latin typeface="Times New Roman" panose="02020603050405020304" pitchFamily="18" charset="0"/>
                <a:cs typeface="Times New Roman" panose="02020603050405020304" pitchFamily="18" charset="0"/>
              </a:rPr>
              <a:t>↓  </a:t>
            </a:r>
          </a:p>
          <a:p>
            <a:pPr marL="0" indent="0" algn="ctr">
              <a:buNone/>
            </a:pPr>
            <a:r>
              <a:rPr lang="en-IN" dirty="0">
                <a:latin typeface="Times New Roman" panose="02020603050405020304" pitchFamily="18" charset="0"/>
                <a:cs typeface="Times New Roman" panose="02020603050405020304" pitchFamily="18" charset="0"/>
              </a:rPr>
              <a:t>Speech Recognition (ASR)  </a:t>
            </a:r>
          </a:p>
          <a:p>
            <a:pPr marL="0" indent="0" algn="ctr">
              <a:buNone/>
            </a:pPr>
            <a:r>
              <a:rPr lang="en-IN" dirty="0">
                <a:latin typeface="Times New Roman" panose="02020603050405020304" pitchFamily="18" charset="0"/>
                <a:cs typeface="Times New Roman" panose="02020603050405020304" pitchFamily="18" charset="0"/>
              </a:rPr>
              <a:t>↓  </a:t>
            </a:r>
          </a:p>
          <a:p>
            <a:pPr marL="0" indent="0" algn="ctr">
              <a:buNone/>
            </a:pPr>
            <a:r>
              <a:rPr lang="en-IN" dirty="0">
                <a:latin typeface="Times New Roman" panose="02020603050405020304" pitchFamily="18" charset="0"/>
                <a:cs typeface="Times New Roman" panose="02020603050405020304" pitchFamily="18" charset="0"/>
              </a:rPr>
              <a:t>Multilingual Text  </a:t>
            </a:r>
          </a:p>
          <a:p>
            <a:pPr marL="0" indent="0" algn="ctr">
              <a:buNone/>
            </a:pPr>
            <a:r>
              <a:rPr lang="en-IN" dirty="0">
                <a:latin typeface="Times New Roman" panose="02020603050405020304" pitchFamily="18" charset="0"/>
                <a:cs typeface="Times New Roman" panose="02020603050405020304" pitchFamily="18" charset="0"/>
              </a:rPr>
              <a:t>↓  </a:t>
            </a:r>
          </a:p>
          <a:p>
            <a:pPr marL="0" indent="0" algn="ctr">
              <a:buNone/>
            </a:pPr>
            <a:r>
              <a:rPr lang="en-IN" dirty="0">
                <a:latin typeface="Times New Roman" panose="02020603050405020304" pitchFamily="18" charset="0"/>
                <a:cs typeface="Times New Roman" panose="02020603050405020304" pitchFamily="18" charset="0"/>
              </a:rPr>
              <a:t>Translation  </a:t>
            </a:r>
          </a:p>
          <a:p>
            <a:pPr marL="0" indent="0" algn="ctr">
              <a:buNone/>
            </a:pPr>
            <a:r>
              <a:rPr lang="en-IN" dirty="0">
                <a:latin typeface="Times New Roman" panose="02020603050405020304" pitchFamily="18" charset="0"/>
                <a:cs typeface="Times New Roman" panose="02020603050405020304" pitchFamily="18" charset="0"/>
              </a:rPr>
              <a:t>↓  </a:t>
            </a:r>
          </a:p>
          <a:p>
            <a:pPr marL="0" indent="0" algn="ctr">
              <a:buNone/>
            </a:pPr>
            <a:r>
              <a:rPr lang="en-IN" dirty="0">
                <a:latin typeface="Times New Roman" panose="02020603050405020304" pitchFamily="18" charset="0"/>
                <a:cs typeface="Times New Roman" panose="02020603050405020304" pitchFamily="18" charset="0"/>
              </a:rPr>
              <a:t>English Output  </a:t>
            </a:r>
          </a:p>
          <a:p>
            <a:pPr marL="0" indent="0" algn="ctr">
              <a:buNone/>
            </a:pPr>
            <a:r>
              <a:rPr lang="en-IN" dirty="0">
                <a:latin typeface="Times New Roman" panose="02020603050405020304" pitchFamily="18" charset="0"/>
                <a:cs typeface="Times New Roman" panose="02020603050405020304" pitchFamily="18" charset="0"/>
              </a:rPr>
              <a:t>↓  </a:t>
            </a:r>
          </a:p>
          <a:p>
            <a:pPr marL="0" indent="0" algn="ctr">
              <a:buNone/>
            </a:pPr>
            <a:r>
              <a:rPr lang="en-IN" dirty="0">
                <a:latin typeface="Times New Roman" panose="02020603050405020304" pitchFamily="18" charset="0"/>
                <a:cs typeface="Times New Roman" panose="02020603050405020304" pitchFamily="18" charset="0"/>
              </a:rPr>
              <a:t>Frontend Display</a:t>
            </a:r>
          </a:p>
        </p:txBody>
      </p:sp>
    </p:spTree>
    <p:extLst>
      <p:ext uri="{BB962C8B-B14F-4D97-AF65-F5344CB8AC3E}">
        <p14:creationId xmlns:p14="http://schemas.microsoft.com/office/powerpoint/2010/main" val="3153498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19732-631B-E2DA-8B3F-DAC3692F2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1BA58-C864-CC75-AB44-7536546222A4}"/>
              </a:ext>
            </a:extLst>
          </p:cNvPr>
          <p:cNvSpPr>
            <a:spLocks noGrp="1"/>
          </p:cNvSpPr>
          <p:nvPr>
            <p:ph type="title"/>
          </p:nvPr>
        </p:nvSpPr>
        <p:spPr>
          <a:xfrm>
            <a:off x="838200" y="365125"/>
            <a:ext cx="10515600" cy="961651"/>
          </a:xfrm>
        </p:spPr>
        <p:txBody>
          <a:bodyPr>
            <a:normAutofit/>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Conclusion</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254176-034B-219B-ED3B-607A4EAC466B}"/>
              </a:ext>
            </a:extLst>
          </p:cNvPr>
          <p:cNvSpPr>
            <a:spLocks noGrp="1"/>
          </p:cNvSpPr>
          <p:nvPr>
            <p:ph idx="1"/>
          </p:nvPr>
        </p:nvSpPr>
        <p:spPr>
          <a:xfrm>
            <a:off x="838200" y="1192306"/>
            <a:ext cx="10515600" cy="4984657"/>
          </a:xfrm>
        </p:spPr>
        <p: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1D7C02CA-76D1-378C-D91B-E9CDC5870A73}"/>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911EF5A-04C6-56BE-E07B-717CEBEFB369}"/>
              </a:ext>
            </a:extLst>
          </p:cNvPr>
          <p:cNvSpPr>
            <a:spLocks noGrp="1"/>
          </p:cNvSpPr>
          <p:nvPr>
            <p:ph type="sldNum" sz="quarter" idx="12"/>
          </p:nvPr>
        </p:nvSpPr>
        <p:spPr/>
        <p:txBody>
          <a:bodyPr/>
          <a:lstStyle/>
          <a:p>
            <a:fld id="{F32F6845-8F47-4AB8-B9CE-96D88E741707}" type="slidenum">
              <a:rPr lang="en-IN" smtClean="0"/>
              <a:pPr/>
              <a:t>34</a:t>
            </a:fld>
            <a:endParaRPr lang="en-IN" dirty="0"/>
          </a:p>
        </p:txBody>
      </p:sp>
      <p:sp>
        <p:nvSpPr>
          <p:cNvPr id="11" name="Rectangle 6">
            <a:extLst>
              <a:ext uri="{FF2B5EF4-FFF2-40B4-BE49-F238E27FC236}">
                <a16:creationId xmlns:a16="http://schemas.microsoft.com/office/drawing/2014/main" id="{0B93F48C-9E37-3C30-D713-8808DFB8D09E}"/>
              </a:ext>
            </a:extLst>
          </p:cNvPr>
          <p:cNvSpPr>
            <a:spLocks noChangeArrowheads="1"/>
          </p:cNvSpPr>
          <p:nvPr/>
        </p:nvSpPr>
        <p:spPr bwMode="auto">
          <a:xfrm>
            <a:off x="838200" y="751344"/>
            <a:ext cx="786888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complete full-stack reporting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Implemented async APIs for better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real-time data processing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Developed multilingual AI-based translation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Gained real-world industry experience </a:t>
            </a:r>
          </a:p>
        </p:txBody>
      </p:sp>
    </p:spTree>
    <p:extLst>
      <p:ext uri="{BB962C8B-B14F-4D97-AF65-F5344CB8AC3E}">
        <p14:creationId xmlns:p14="http://schemas.microsoft.com/office/powerpoint/2010/main" val="29066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7ADE8-C726-2FEC-02EC-0ADAA661A1E2}"/>
              </a:ext>
            </a:extLst>
          </p:cNvPr>
          <p:cNvSpPr>
            <a:spLocks noGrp="1"/>
          </p:cNvSpPr>
          <p:nvPr>
            <p:ph type="title"/>
          </p:nvPr>
        </p:nvSpPr>
        <p:spPr>
          <a:xfrm>
            <a:off x="838200" y="365125"/>
            <a:ext cx="10515600" cy="728569"/>
          </a:xfrm>
        </p:spPr>
        <p:txBody>
          <a:bodyPr>
            <a:normAutofit/>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2E1503D8-D9E3-8C52-56F2-6D37150927B6}"/>
              </a:ext>
            </a:extLst>
          </p:cNvPr>
          <p:cNvSpPr>
            <a:spLocks noGrp="1"/>
          </p:cNvSpPr>
          <p:nvPr>
            <p:ph idx="1"/>
          </p:nvPr>
        </p:nvSpPr>
        <p:spPr>
          <a:xfrm>
            <a:off x="838200" y="1093694"/>
            <a:ext cx="10515600" cy="4351338"/>
          </a:xfrm>
        </p:spPr>
        <p:txBody>
          <a:bodyPr/>
          <a:lstStyle/>
          <a:p>
            <a:r>
              <a:rPr lang="en-US" dirty="0" err="1">
                <a:latin typeface="Times New Roman" panose="02020603050405020304" pitchFamily="18" charset="0"/>
                <a:cs typeface="Times New Roman" panose="02020603050405020304" pitchFamily="18" charset="0"/>
              </a:rPr>
              <a:t>FastAPI</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ReactJS Documentation </a:t>
            </a:r>
          </a:p>
          <a:p>
            <a:r>
              <a:rPr lang="en-US" dirty="0">
                <a:latin typeface="Times New Roman" panose="02020603050405020304" pitchFamily="18" charset="0"/>
                <a:cs typeface="Times New Roman" panose="02020603050405020304" pitchFamily="18" charset="0"/>
              </a:rPr>
              <a:t>SQL Server Docs </a:t>
            </a:r>
          </a:p>
          <a:p>
            <a:r>
              <a:rPr lang="en-US" dirty="0">
                <a:latin typeface="Times New Roman" panose="02020603050405020304" pitchFamily="18" charset="0"/>
                <a:cs typeface="Times New Roman" panose="02020603050405020304" pitchFamily="18" charset="0"/>
              </a:rPr>
              <a:t>Postman </a:t>
            </a:r>
          </a:p>
          <a:p>
            <a:r>
              <a:rPr lang="en-US" dirty="0">
                <a:latin typeface="Times New Roman" panose="02020603050405020304" pitchFamily="18" charset="0"/>
                <a:cs typeface="Times New Roman" panose="02020603050405020304" pitchFamily="18" charset="0"/>
              </a:rPr>
              <a:t>GitHub </a:t>
            </a:r>
          </a:p>
          <a:p>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9C2E1B1B-67A0-978D-7047-4B610F1E5368}"/>
              </a:ext>
            </a:extLst>
          </p:cNvPr>
          <p:cNvSpPr>
            <a:spLocks noGrp="1"/>
          </p:cNvSpPr>
          <p:nvPr>
            <p:ph type="dt" sz="half" idx="10"/>
          </p:nvPr>
        </p:nvSpPr>
        <p:spPr/>
        <p:txBody>
          <a:bodyPr/>
          <a:lstStyle/>
          <a:p>
            <a:fld id="{864BFFB7-4443-4602-A990-B076C1CFE86C}" type="datetime1">
              <a:rPr lang="en-IN" smtClean="0"/>
              <a:pPr/>
              <a:t>23-04-2026</a:t>
            </a:fld>
            <a:endParaRPr lang="en-IN" dirty="0"/>
          </a:p>
        </p:txBody>
      </p:sp>
      <p:sp>
        <p:nvSpPr>
          <p:cNvPr id="5" name="Slide Number Placeholder 4">
            <a:extLst>
              <a:ext uri="{FF2B5EF4-FFF2-40B4-BE49-F238E27FC236}">
                <a16:creationId xmlns:a16="http://schemas.microsoft.com/office/drawing/2014/main" id="{81B5AA12-39E1-4744-0051-BCEAFE54D426}"/>
              </a:ext>
            </a:extLst>
          </p:cNvPr>
          <p:cNvSpPr>
            <a:spLocks noGrp="1"/>
          </p:cNvSpPr>
          <p:nvPr>
            <p:ph type="sldNum" sz="quarter" idx="12"/>
          </p:nvPr>
        </p:nvSpPr>
        <p:spPr/>
        <p:txBody>
          <a:bodyPr/>
          <a:lstStyle/>
          <a:p>
            <a:fld id="{F32F6845-8F47-4AB8-B9CE-96D88E741707}" type="slidenum">
              <a:rPr lang="en-IN" smtClean="0"/>
              <a:pPr/>
              <a:t>35</a:t>
            </a:fld>
            <a:endParaRPr lang="en-IN" dirty="0"/>
          </a:p>
        </p:txBody>
      </p:sp>
    </p:spTree>
    <p:extLst>
      <p:ext uri="{BB962C8B-B14F-4D97-AF65-F5344CB8AC3E}">
        <p14:creationId xmlns:p14="http://schemas.microsoft.com/office/powerpoint/2010/main" val="3185463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36</a:t>
            </a:fld>
            <a:endParaRPr lang="en-US" altLang="en-US"/>
          </a:p>
        </p:txBody>
      </p:sp>
      <p:graphicFrame>
        <p:nvGraphicFramePr>
          <p:cNvPr id="9" name="Content Placeholder 7">
            <a:extLst>
              <a:ext uri="{FF2B5EF4-FFF2-40B4-BE49-F238E27FC236}">
                <a16:creationId xmlns:a16="http://schemas.microsoft.com/office/drawing/2014/main" id="{6882F925-A7CE-C8D9-2C2B-3454BD1C4DD8}"/>
              </a:ext>
            </a:extLst>
          </p:cNvPr>
          <p:cNvGraphicFramePr>
            <a:graphicFrameLocks/>
          </p:cNvGraphicFramePr>
          <p:nvPr/>
        </p:nvGraphicFramePr>
        <p:xfrm>
          <a:off x="470371" y="1399902"/>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71002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37</a:t>
            </a:fld>
            <a:endParaRPr lang="en-US" altLang="en-US"/>
          </a:p>
        </p:txBody>
      </p:sp>
      <p:sp>
        <p:nvSpPr>
          <p:cNvPr id="3" name="Content Placeholder 2"/>
          <p:cNvSpPr>
            <a:spLocks noGrp="1"/>
          </p:cNvSpPr>
          <p:nvPr>
            <p:ph idx="1"/>
          </p:nvPr>
        </p:nvSpPr>
        <p:spPr>
          <a:xfrm>
            <a:off x="446308" y="1061297"/>
            <a:ext cx="10515600" cy="4351338"/>
          </a:xfrm>
        </p:spPr>
        <p:txBody>
          <a:bodyPr/>
          <a:lstStyle/>
          <a:p>
            <a:r>
              <a:rPr lang="en-US" dirty="0">
                <a:hlinkClick r:id="rId2"/>
              </a:rPr>
              <a:t>https://github.com/kkeerthireddy777/CSE7302-_INTERNSHIP</a:t>
            </a: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937877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38</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71524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39</a:t>
            </a:fld>
            <a:endParaRPr lang="en-US" altLang="en-US"/>
          </a:p>
        </p:txBody>
      </p:sp>
    </p:spTree>
    <p:extLst>
      <p:ext uri="{BB962C8B-B14F-4D97-AF65-F5344CB8AC3E}">
        <p14:creationId xmlns:p14="http://schemas.microsoft.com/office/powerpoint/2010/main" val="3388110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522</TotalTime>
  <Words>1071</Words>
  <Application>Microsoft Office PowerPoint</Application>
  <PresentationFormat>Widescreen</PresentationFormat>
  <Paragraphs>241</Paragraphs>
  <Slides>39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About Company or Organization</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 </vt:lpstr>
      <vt:lpstr>Workflow Diagram</vt:lpstr>
      <vt:lpstr>System Implementation </vt:lpstr>
      <vt:lpstr>System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MINI PROJECT – MULTILINGUAL TRANSLATION”</vt:lpstr>
      <vt:lpstr>PowerPoint Presentation</vt:lpstr>
      <vt:lpstr>Conclusion</vt:lpstr>
      <vt:lpstr>References</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Keerthi K</dc:creator>
  <cp:lastModifiedBy>Keerthi K</cp:lastModifiedBy>
  <cp:revision>3</cp:revision>
  <dcterms:created xsi:type="dcterms:W3CDTF">2026-04-23T00:54:22Z</dcterms:created>
  <dcterms:modified xsi:type="dcterms:W3CDTF">2026-04-23T18:06:36Z</dcterms:modified>
</cp:coreProperties>
</file>